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22"/>
  </p:notesMasterIdLst>
  <p:sldIdLst>
    <p:sldId id="256" r:id="rId2"/>
    <p:sldId id="261" r:id="rId3"/>
    <p:sldId id="266" r:id="rId4"/>
    <p:sldId id="262" r:id="rId5"/>
    <p:sldId id="264" r:id="rId6"/>
    <p:sldId id="265" r:id="rId7"/>
    <p:sldId id="270" r:id="rId8"/>
    <p:sldId id="267" r:id="rId9"/>
    <p:sldId id="268" r:id="rId10"/>
    <p:sldId id="269" r:id="rId11"/>
    <p:sldId id="263" r:id="rId12"/>
    <p:sldId id="271" r:id="rId13"/>
    <p:sldId id="272" r:id="rId14"/>
    <p:sldId id="273" r:id="rId15"/>
    <p:sldId id="274" r:id="rId16"/>
    <p:sldId id="275" r:id="rId17"/>
    <p:sldId id="257" r:id="rId18"/>
    <p:sldId id="258" r:id="rId19"/>
    <p:sldId id="259" r:id="rId20"/>
    <p:sldId id="260" r:id="rId21"/>
  </p:sldIdLst>
  <p:sldSz cx="12192000" cy="6858000"/>
  <p:notesSz cx="6858000" cy="12192000"/>
  <p:embeddedFontLst>
    <p:embeddedFont>
      <p:font typeface="Gill Sans MT" panose="020B0502020104020203" pitchFamily="34" charset="0"/>
      <p:regular r:id="rId23"/>
      <p:bold r:id="rId24"/>
      <p:italic r:id="rId25"/>
      <p:boldItalic r:id="rId26"/>
    </p:embeddedFont>
    <p:embeddedFont>
      <p:font typeface="Tahoma" panose="020B0604030504040204" pitchFamily="34" charset="0"/>
      <p:regular r:id="rId27"/>
      <p:bold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1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F1E55-9557-3DD6-418F-F301A0B66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F8098-5C83-AFDA-48EE-15767D54A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4D61A-6868-7BF7-3CA3-07F697C9A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7CE66-67AE-3506-5932-7D1B52A10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50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693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3219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01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5485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8654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2384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614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9053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4980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8624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7726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776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48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50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9965" y="1650107"/>
            <a:ext cx="5751765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Down Game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34203" y="2375098"/>
            <a:ext cx="4723290" cy="514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F5F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Von Mika und Andre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9814" y="3197721"/>
            <a:ext cx="10752067" cy="2010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Datum des Projekts:</a:t>
            </a: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Ein 3D-Rollenspiel mit Echtzeit-Kampfsystem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Projektdauer:</a:t>
            </a: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Mehrere Wochen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Ziele:</a:t>
            </a: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Ein spielbares Prototyp-Erlebnis mit Charaktersteuerung, Kampf und Looting entwickeln.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32C2-5A6E-BEA0-5643-AAFBAC13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930DD108-C145-8E30-BC45-828E82943D7E}"/>
              </a:ext>
            </a:extLst>
          </p:cNvPr>
          <p:cNvSpPr/>
          <p:nvPr/>
        </p:nvSpPr>
        <p:spPr>
          <a:xfrm>
            <a:off x="719966" y="331617"/>
            <a:ext cx="11361652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60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Was brauchen wir im Spiel?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07D350-15B4-2146-E31F-AF2004A6DFFD}"/>
              </a:ext>
            </a:extLst>
          </p:cNvPr>
          <p:cNvSpPr/>
          <p:nvPr/>
        </p:nvSpPr>
        <p:spPr>
          <a:xfrm>
            <a:off x="719966" y="919157"/>
            <a:ext cx="10752067" cy="3306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Hud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2"/>
            </a:pPr>
            <a:r>
              <a:rPr lang="en-US" sz="2400" dirty="0" err="1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Spieler</a:t>
            </a: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2400" dirty="0" err="1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Gegner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3"/>
            </a:pPr>
            <a:r>
              <a:rPr lang="en-US" sz="2400" dirty="0" err="1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Bewegungen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4"/>
            </a:pPr>
            <a:r>
              <a:rPr lang="en-US" sz="2400" dirty="0" err="1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Karten</a:t>
            </a: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/Maps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5"/>
            </a:pPr>
            <a:r>
              <a:rPr lang="en-US" sz="2400" dirty="0" err="1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Angriffe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6"/>
            </a:pPr>
            <a:r>
              <a:rPr lang="en-US" sz="2400" dirty="0" err="1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Menüsystem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7"/>
            </a:pPr>
            <a:r>
              <a:rPr lang="en-US" sz="2400" dirty="0" err="1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Levelsystem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8"/>
            </a:pPr>
            <a:r>
              <a:rPr lang="en-US" sz="2400" dirty="0" err="1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Inventar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B441FB-3E4E-801D-68F0-4AB526B341D2}"/>
              </a:ext>
            </a:extLst>
          </p:cNvPr>
          <p:cNvSpPr/>
          <p:nvPr/>
        </p:nvSpPr>
        <p:spPr>
          <a:xfrm>
            <a:off x="719966" y="4601724"/>
            <a:ext cx="11361652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60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Projektmanagement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5E249F1-D772-F522-4631-B5D35B005350}"/>
              </a:ext>
            </a:extLst>
          </p:cNvPr>
          <p:cNvSpPr/>
          <p:nvPr/>
        </p:nvSpPr>
        <p:spPr>
          <a:xfrm>
            <a:off x="719966" y="5059186"/>
            <a:ext cx="10752067" cy="1298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Meilensteine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Zeitplan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Rollen und Verantwortlichkeiten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8030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A7820D6-8AE4-4D5E-98D6-996567FB50C6}"/>
              </a:ext>
            </a:extLst>
          </p:cNvPr>
          <p:cNvSpPr txBox="1"/>
          <p:nvPr/>
        </p:nvSpPr>
        <p:spPr>
          <a:xfrm>
            <a:off x="4057650" y="2228671"/>
            <a:ext cx="4076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u="sng" dirty="0">
                <a:solidFill>
                  <a:schemeClr val="bg1"/>
                </a:solidFill>
              </a:rPr>
              <a:t>Spiel Idee</a:t>
            </a:r>
          </a:p>
        </p:txBody>
      </p:sp>
    </p:spTree>
    <p:extLst>
      <p:ext uri="{BB962C8B-B14F-4D97-AF65-F5344CB8AC3E}">
        <p14:creationId xmlns:p14="http://schemas.microsoft.com/office/powerpoint/2010/main" val="220914086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302F3C0-0FEF-463B-9F60-FA5F051DC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197346"/>
            <a:ext cx="11150600" cy="6463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1. Spielidee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3D-Top-Down-Zombie-Survival-Spiel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Entwickelt mit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Python, </a:t>
            </a:r>
            <a:r>
              <a:rPr kumimoji="0" lang="de-DE" altLang="de-DE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Pygame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 und OpenGL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-apple-system-body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Ziel: So lange wie möglich überleben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Endlose Wellen von Zombies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Gegner können Loot fallen lassen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-apple-system-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2. Waffen &amp; Ausrüstung</a:t>
            </a:r>
          </a:p>
          <a:p>
            <a:pPr lvl="1" defTabSz="914400">
              <a:buFontTx/>
              <a:buChar char="•"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Pistole: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 hohe Feuerrate, geringer Schaden</a:t>
            </a:r>
          </a:p>
          <a:p>
            <a:pPr lvl="1" defTabSz="914400">
              <a:buFontTx/>
              <a:buChar char="•"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Schrotflinte: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 Streuschuss, hoher Schaden auf kurze Distanz</a:t>
            </a:r>
          </a:p>
          <a:p>
            <a:pPr lvl="1" defTabSz="914400">
              <a:buFontTx/>
              <a:buChar char="•"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Rifle: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 hoher Schaden, langsame Feuerrate</a:t>
            </a:r>
          </a:p>
          <a:p>
            <a:pPr lvl="1" defTabSz="914400">
              <a:buFontTx/>
              <a:buChar char="•"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Bis zu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3 Waffen gleichzeitig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-apple-system-body"/>
            </a:endParaRPr>
          </a:p>
          <a:p>
            <a:pPr lvl="1" defTabSz="914400">
              <a:buFontTx/>
              <a:buChar char="•"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Munition kann nachgeladen werden</a:t>
            </a:r>
          </a:p>
          <a:p>
            <a:pPr lvl="1" defTabSz="914400">
              <a:buFontTx/>
              <a:buChar char="•"/>
            </a:pP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Medkits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 zur Heilung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-apple-system-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3. Spielersteuerung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WASD: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 Bewegung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Shift: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 Sprinten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Maus: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 Zielen und Schießen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Ausdauer-System beim Sprinten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Ausdauer regeneriert sich beim normalen Bewegen oder Stehen</a:t>
            </a:r>
          </a:p>
        </p:txBody>
      </p:sp>
    </p:spTree>
    <p:extLst>
      <p:ext uri="{BB962C8B-B14F-4D97-AF65-F5344CB8AC3E}">
        <p14:creationId xmlns:p14="http://schemas.microsoft.com/office/powerpoint/2010/main" val="189597497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DAE2FC1-63A6-4D60-B9C8-4109D96A82DA}"/>
              </a:ext>
            </a:extLst>
          </p:cNvPr>
          <p:cNvSpPr/>
          <p:nvPr/>
        </p:nvSpPr>
        <p:spPr>
          <a:xfrm>
            <a:off x="82550" y="181957"/>
            <a:ext cx="120269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4. Zombie-Arten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Normale Zombies:</a:t>
            </a: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 ausgewogene Geschwindigkeit und Schaden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Schnelle Zombies:</a:t>
            </a: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 hohe Geschwindigkeit, weniger Schaden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Tank-Zombies:</a:t>
            </a: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 langsam, aber sehr viele Lebenspunkte und hoher Schaden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Alle Zombies verfolgen den Spieler automatisch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Nahkampfangriffe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Können nach dem Tod Loot hinterlassen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000" b="1" dirty="0">
              <a:solidFill>
                <a:schemeClr val="bg1"/>
              </a:solidFill>
              <a:latin typeface="-apple-system-body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5. Kampfsystem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Schießen basiert auf </a:t>
            </a: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Projektilen</a:t>
            </a:r>
            <a:endParaRPr lang="de-DE" altLang="de-DE" sz="2000" dirty="0">
              <a:solidFill>
                <a:schemeClr val="bg1"/>
              </a:solidFill>
              <a:latin typeface="-apple-system-body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Kugeln entstehen am Lauf der ausgerüsteten Waffe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Kollisionserkennung mit Zombies und Hindernissen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Treffer verursachen Schaden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Visuelle Effekte wie </a:t>
            </a: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Funken und Blutpartikel</a:t>
            </a:r>
            <a:endParaRPr lang="de-DE" altLang="de-DE" sz="2000" dirty="0">
              <a:solidFill>
                <a:schemeClr val="bg1"/>
              </a:solidFill>
              <a:latin typeface="-apple-system-body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Waffen unterscheiden sich bei: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Feuerrate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Genauigkeit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Schaden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Nachladezeit</a:t>
            </a:r>
          </a:p>
        </p:txBody>
      </p:sp>
    </p:spTree>
    <p:extLst>
      <p:ext uri="{BB962C8B-B14F-4D97-AF65-F5344CB8AC3E}">
        <p14:creationId xmlns:p14="http://schemas.microsoft.com/office/powerpoint/2010/main" val="129711071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8ADBD34-2B18-4E3C-AAE2-B15CD7E1E9EF}"/>
              </a:ext>
            </a:extLst>
          </p:cNvPr>
          <p:cNvSpPr/>
          <p:nvPr/>
        </p:nvSpPr>
        <p:spPr>
          <a:xfrm>
            <a:off x="406400" y="151179"/>
            <a:ext cx="113792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6. Wellen-System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Spiel besteht aus immer schwierigeren Wellen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Anfangs wenige Zombies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Jede neue Welle erhöht die Anzahl und Schwierigkeit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Nach einer abgeschlossenen Welle gibt es eine kurze Pause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Neue Zombies werden mit Abstand zum Spieler gespawnt</a:t>
            </a:r>
            <a:endParaRPr lang="de-DE" altLang="de-DE" sz="2000" b="1" dirty="0">
              <a:solidFill>
                <a:schemeClr val="bg1"/>
              </a:solidFill>
              <a:latin typeface="-apple-system-body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7. Spieltechnik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Zentrale </a:t>
            </a: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Game Loop</a:t>
            </a:r>
            <a:endParaRPr lang="de-DE" altLang="de-DE" sz="2000" dirty="0">
              <a:solidFill>
                <a:schemeClr val="bg1"/>
              </a:solidFill>
              <a:latin typeface="-apple-system-body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Verarbeitung von: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Tastatur- und Mauseingaben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Spielobjekten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Kollisionen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Rendering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Kontinuierliche Aktualisierung der gesamten Spielwelt</a:t>
            </a:r>
            <a:endParaRPr lang="de-DE" altLang="de-DE" sz="2000" b="1" dirty="0">
              <a:solidFill>
                <a:schemeClr val="bg1"/>
              </a:solidFill>
              <a:latin typeface="-apple-system-body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8. 3D-Grafik &amp; Beleuchtung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Vollständige 3D-Darstellung mit </a:t>
            </a: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OpenGL</a:t>
            </a:r>
            <a:endParaRPr lang="de-DE" altLang="de-DE" sz="2000" dirty="0">
              <a:solidFill>
                <a:schemeClr val="bg1"/>
              </a:solidFill>
              <a:latin typeface="-apple-system-body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b="1" dirty="0" err="1">
                <a:solidFill>
                  <a:schemeClr val="bg1"/>
                </a:solidFill>
                <a:latin typeface="-apple-system-body"/>
              </a:rPr>
              <a:t>Phong-Shading</a:t>
            </a: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 für realistischere Beleuchtung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b="1" dirty="0">
                <a:solidFill>
                  <a:schemeClr val="bg1"/>
                </a:solidFill>
                <a:latin typeface="-apple-system-body"/>
              </a:rPr>
              <a:t>Spotlight</a:t>
            </a: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 beleuchtet die Umgebung rund um den Spieler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Prozedural erzeugte 3D-Geometrie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Verwendung von Würfeln, Zylindern und einfachen Flächen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altLang="de-DE" sz="2000" dirty="0">
                <a:solidFill>
                  <a:schemeClr val="bg1"/>
                </a:solidFill>
                <a:latin typeface="-apple-system-body"/>
              </a:rPr>
              <a:t>Keine externen 3D-Modelle notwendig</a:t>
            </a:r>
          </a:p>
        </p:txBody>
      </p:sp>
    </p:spTree>
    <p:extLst>
      <p:ext uri="{BB962C8B-B14F-4D97-AF65-F5344CB8AC3E}">
        <p14:creationId xmlns:p14="http://schemas.microsoft.com/office/powerpoint/2010/main" val="146024189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027A8B8-342D-4FA7-A595-3DEF32E95E8C}"/>
              </a:ext>
            </a:extLst>
          </p:cNvPr>
          <p:cNvSpPr txBox="1"/>
          <p:nvPr/>
        </p:nvSpPr>
        <p:spPr>
          <a:xfrm>
            <a:off x="2063750" y="2413337"/>
            <a:ext cx="8064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u="sng" dirty="0">
                <a:solidFill>
                  <a:schemeClr val="bg1"/>
                </a:solidFill>
              </a:rPr>
              <a:t>Entwicklung des Spiels</a:t>
            </a:r>
          </a:p>
        </p:txBody>
      </p:sp>
    </p:spTree>
    <p:extLst>
      <p:ext uri="{BB962C8B-B14F-4D97-AF65-F5344CB8AC3E}">
        <p14:creationId xmlns:p14="http://schemas.microsoft.com/office/powerpoint/2010/main" val="264309876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ving">
            <a:hlinkClick r:id="" action="ppaction://media"/>
            <a:extLst>
              <a:ext uri="{FF2B5EF4-FFF2-40B4-BE49-F238E27FC236}">
                <a16:creationId xmlns:a16="http://schemas.microsoft.com/office/drawing/2014/main" id="{48EABB4A-70FF-4EEC-814C-5203E37C960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60529" y="1676729"/>
            <a:ext cx="6270941" cy="350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328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jectile">
            <a:hlinkClick r:id="" action="ppaction://media"/>
            <a:extLst>
              <a:ext uri="{FF2B5EF4-FFF2-40B4-BE49-F238E27FC236}">
                <a16:creationId xmlns:a16="http://schemas.microsoft.com/office/drawing/2014/main" id="{1C550C81-9472-45E1-A847-262A600B30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71093" y="1659593"/>
            <a:ext cx="5649814" cy="353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443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0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nemy">
            <a:hlinkClick r:id="" action="ppaction://media"/>
            <a:extLst>
              <a:ext uri="{FF2B5EF4-FFF2-40B4-BE49-F238E27FC236}">
                <a16:creationId xmlns:a16="http://schemas.microsoft.com/office/drawing/2014/main" id="{24FAF0DD-C228-4809-985C-BC17728A0B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76838" y="754511"/>
            <a:ext cx="8038323" cy="534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494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">
            <a:hlinkClick r:id="" action="ppaction://media"/>
            <a:extLst>
              <a:ext uri="{FF2B5EF4-FFF2-40B4-BE49-F238E27FC236}">
                <a16:creationId xmlns:a16="http://schemas.microsoft.com/office/drawing/2014/main" id="{7BC81A15-88CB-4B74-8983-053CE0959F3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14501" y="1429836"/>
            <a:ext cx="6562997" cy="399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426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2B66E7D-8CA5-4F4C-A0ED-5017909540DC}"/>
              </a:ext>
            </a:extLst>
          </p:cNvPr>
          <p:cNvSpPr/>
          <p:nvPr/>
        </p:nvSpPr>
        <p:spPr>
          <a:xfrm>
            <a:off x="95250" y="2780437"/>
            <a:ext cx="120015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4400" u="sng" dirty="0">
                <a:solidFill>
                  <a:schemeClr val="bg1"/>
                </a:solidFill>
              </a:rPr>
              <a:t>3D Graphik und </a:t>
            </a:r>
            <a:r>
              <a:rPr lang="de-DE" sz="4400" u="sng" dirty="0" err="1">
                <a:solidFill>
                  <a:schemeClr val="bg1"/>
                </a:solidFill>
              </a:rPr>
              <a:t>Shader</a:t>
            </a:r>
            <a:r>
              <a:rPr lang="de-DE" sz="4400" u="sng" dirty="0">
                <a:solidFill>
                  <a:schemeClr val="bg1"/>
                </a:solidFill>
              </a:rPr>
              <a:t> im Überblick mit OpenGL </a:t>
            </a:r>
          </a:p>
        </p:txBody>
      </p:sp>
    </p:spTree>
    <p:extLst>
      <p:ext uri="{BB962C8B-B14F-4D97-AF65-F5344CB8AC3E}">
        <p14:creationId xmlns:p14="http://schemas.microsoft.com/office/powerpoint/2010/main" val="1231949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5DC9D5-A433-4A3F-B206-48CEBD3F8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0" y="425002"/>
            <a:ext cx="9563100" cy="589392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1. Ein Punkt hat jetzt 3 Koordinaten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Bei normalem 2D-Pygame hast du: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(x, y) 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Zum Beispiel: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x = 100 y = 200 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Bei 3D hast du: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(x, y, z) 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Zum Beispiel: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x = 2 y = 1 z = -5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Y ↑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|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|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|_______→ 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/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/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 ↓ Z 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Damit kann ein Punkt nicht nur links/rechts und oben/unten liegen, sondern auch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vorne/hinten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.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6837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9B6FED0-D6AE-40D1-B3E2-29B895E8F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2039"/>
            <a:ext cx="12192000" cy="589392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2. Ein Würfel besteht aus Punkten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Ein Würfel könnte beispielsweise diese 8 Eckpunkte haben:</a:t>
            </a:r>
          </a:p>
          <a:p>
            <a:pPr lvl="0" defTabSz="914400"/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   4─────────5</a:t>
            </a:r>
          </a:p>
          <a:p>
            <a:pPr lvl="0" defTabSz="914400"/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  / │                    /│</a:t>
            </a:r>
          </a:p>
          <a:p>
            <a:pPr lvl="0" defTabSz="914400"/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 /  │                   / │</a:t>
            </a:r>
          </a:p>
          <a:p>
            <a:pPr lvl="0" defTabSz="914400"/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7────────6  │</a:t>
            </a:r>
          </a:p>
          <a:p>
            <a:pPr lvl="0" defTabSz="914400"/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│  │                │  │</a:t>
            </a:r>
          </a:p>
          <a:p>
            <a:pPr lvl="0" defTabSz="914400"/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│  0──────│─1</a:t>
            </a:r>
          </a:p>
          <a:p>
            <a:pPr lvl="0" defTabSz="914400"/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│ /                  │ /</a:t>
            </a:r>
          </a:p>
          <a:p>
            <a:pPr lvl="0" defTabSz="914400"/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│/                   │/</a:t>
            </a:r>
          </a:p>
          <a:p>
            <a:pPr lvl="0" defTabSz="914400"/>
            <a:r>
              <a:rPr lang="de-DE" altLang="de-DE" sz="20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3────────2</a:t>
            </a:r>
          </a:p>
          <a:p>
            <a:pPr lvl="0" defTabSz="914400"/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Jeder dieser Punkte hat 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nherit"/>
              </a:rPr>
              <a:t>(x, y, z)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.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Zum Beispiel: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vertices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 = [ (-1, -1, -1), ( 1, -1, -1), ( 1, 1, -1), (-1, 1, -1), (-1, -1, 1), ( 1, -1, 1), ( 1, 1, 1), (-1, 1, 1) ] 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Jetzt existiert der Würfel mathematisch bereits im </a:t>
            </a:r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3D-Raum</a:t>
            </a: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.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Aber dein Monitor ist natürlich flach.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Also muss OpenGL aus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3D → 2D </a:t>
            </a:r>
            <a:endParaRPr kumimoji="0" lang="de-DE" altLang="de-DE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machen.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56763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9CB60B1-6D34-42D7-8F17-4E8190E0D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" y="296279"/>
            <a:ext cx="10756900" cy="553997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-apple-system-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3. Das macht die Kamera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Stell dir vor, du stehst vor einem Würfel: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Würfel ┌─────┐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24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       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│             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24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       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│            </a:t>
            </a:r>
            <a:r>
              <a:rPr lang="de-DE" altLang="de-DE" sz="24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24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       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└─────┘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24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          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↑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24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              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| Kamera 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Die Kamera schaut in den Raum.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Ein Objekt, das weiter entfernt ist, erscheint kleiner.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Das ist die sogenannte 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Perspektive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.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Zum Beispiel: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nah: ████████ weit: ██ 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Genau dadurch entsteht ein großer Teil des 3D-Eindrucks.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26079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571F30-257A-4AEE-8E0B-AF94598A8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9775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D4D923-A3F3-4729-82B3-EF2D03723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8285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7DFF23-D85C-4A2F-8EDC-67FC72AFE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55925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77A5D2-193F-43F1-8F9D-79D49D125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659011"/>
            <a:ext cx="8597900" cy="553997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4. Die Projektion</a:t>
            </a:r>
          </a:p>
          <a:p>
            <a:pPr lvl="0" defTabSz="914400"/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Mathematisch wird </a:t>
            </a:r>
            <a:r>
              <a:rPr lang="de-DE" altLang="de-DE" sz="24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 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ungefähr Folgendes gemacht: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3D-Punkt (x, y, z)&gt; Kamera</a:t>
            </a:r>
            <a:r>
              <a:rPr lang="de-DE" altLang="de-DE" sz="2400" dirty="0">
                <a:solidFill>
                  <a:schemeClr val="bg1"/>
                </a:solidFill>
                <a:latin typeface="Arial Unicode MS"/>
                <a:cs typeface="Courier New" panose="02070309020205020404" pitchFamily="49" charset="0"/>
              </a:rPr>
              <a:t>&gt;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 Perspektivprojektion&gt; 2D-Punkt (x, y)&gt; Pixel auf dem Bildschirm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Eine vereinfachte Perspektivformel sieht beispielsweise so aus: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screen_x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 = x / z </a:t>
            </a:r>
            <a:r>
              <a:rPr kumimoji="0" lang="de-DE" altLang="de-DE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screen_y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 = y / z 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Das ist jetzt stark vereinfacht, aber das Prinzip ist wichtig.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Angenommen: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Punkt A: x = 2 z = 2 2 / 2 = 1 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und: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cs typeface="Courier New" panose="02070309020205020404" pitchFamily="49" charset="0"/>
              </a:rPr>
              <a:t>Punkt B: x = 2 z = 10 2 / 10 = 0.2 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Obwohl beide Punkte 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nherit"/>
              </a:rPr>
              <a:t>x = 2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 haben, erscheint B viel näher an der Mitte und damit </a:t>
            </a:r>
            <a:r>
              <a:rPr kumimoji="0" lang="de-DE" altLang="de-DE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kleiner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, weil er weiter weg ist.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-body"/>
              </a:rPr>
              <a:t>Das ist Perspektive.</a:t>
            </a: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4952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95015"/>
            <a:ext cx="4405897" cy="47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Projektstrucktur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9814" y="1201141"/>
            <a:ext cx="11361652" cy="21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60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Womit arbeiten wir?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9814" y="2087507"/>
            <a:ext cx="10752067" cy="125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Pygame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Numpy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 Repository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 / Editor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5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Virtuelle Umgebung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33680" indent="-233680" algn="l">
              <a:lnSpc>
                <a:spcPct val="116000"/>
              </a:lnSpc>
              <a:buSzPct val="100000"/>
              <a:buFont typeface="+mj-lt"/>
              <a:buAutoNum type="arabicPeriod" startAt="6"/>
            </a:pPr>
            <a:r>
              <a:rPr lang="en-US" sz="24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GitHub 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5543E5C-4254-4DEC-A02B-6FB1C433D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475" y="1171575"/>
            <a:ext cx="4514850" cy="45148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271661"/>
            <a:ext cx="3690845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Implementierung</a:t>
            </a:r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9814" y="936128"/>
            <a:ext cx="10752067" cy="524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Zugeweisene Funktionen Coden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Verbinden der Funktionen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Bug fixing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9814" y="1659632"/>
            <a:ext cx="3946327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Detaillierte Schritte für die Codierung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9814" y="2089845"/>
            <a:ext cx="10752067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Klassenstruktur definieren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Kollisionserkennung implementieren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Rendering-System aufbauen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Spielobjekte und Zustände sauber organisieren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9814" y="2908201"/>
            <a:ext cx="2949204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Verbinden der Funktionen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9814" y="3279601"/>
            <a:ext cx="10752067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Spielerbewegung mit Eingaben verknüpfen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Angriffe mit Gegner-Logik verbinden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Hud mit Spielstatus synchronisieren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Karten- und Map-Wechsel integrieren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9814" y="4068266"/>
            <a:ext cx="245828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Bug fixing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9814" y="4540299"/>
            <a:ext cx="10752067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Einzelne Funktionen isoliert testen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Integrationstests für Spielabläufe durchführen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Fehler mit Logging und Debug-Ausgaben analysieren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Randfälle und Performance-Probleme prüfen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9814" y="5378251"/>
            <a:ext cx="332751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Review und Optimierung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9814" y="5869880"/>
            <a:ext cx="10752067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auf Lesbarkeit und Struktur prüfen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Duplikate entfernen und Funktionen vereinfachen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 und Speicherverbrauch optimieren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93040" indent="-193040" algn="l">
              <a:lnSpc>
                <a:spcPct val="107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Feedback aus dem Review umsetzen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133673"/>
            <a:ext cx="5751765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Dokumentierung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9814" y="2187773"/>
            <a:ext cx="10752067" cy="3536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Vor jedem bearbeiten Pullen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Nach jedem bearbeiten Pushen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Eigenes Dokument für Änderungen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Spezifische Commit-Message-Konventionen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Dokumentation von Code-Änderungen (Docstrings, Kommentare)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Erstellung von README und technischer Dokumentation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Versionskontrolle und Release-Notes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Fehlertracking und Changelog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Team-Kommunikation und Meetings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03052"/>
            <a:ext cx="5510670" cy="61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F5F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Ende</a:t>
            </a:r>
            <a:endParaRPr lang="en-US" sz="38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19814" y="1589385"/>
            <a:ext cx="2547874" cy="3311327"/>
          </a:xfrm>
          <a:prstGeom prst="roundRect">
            <a:avLst>
              <a:gd name="adj" fmla="val 3232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DE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7754" y="1810741"/>
            <a:ext cx="2291994" cy="918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Zusammenfassung der Projektziele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41166" y="2841625"/>
            <a:ext cx="2105171" cy="15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Kurzer Rückblick auf das, was das Projekt erreichen sollte und welche Ergebnisse erzielt wurden.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54512" y="1589385"/>
            <a:ext cx="2547874" cy="3311327"/>
          </a:xfrm>
          <a:prstGeom prst="roundRect">
            <a:avLst>
              <a:gd name="adj" fmla="val 3232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DE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75864" y="1810742"/>
            <a:ext cx="2105171" cy="918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Nächste Schritte und mögliche Erweiterungen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75864" y="2841625"/>
            <a:ext cx="2105171" cy="1837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Ideen für die Weiterentwicklung, zusätzliche Funktionen und sinnvolle Ausbaustufen.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89210" y="1589385"/>
            <a:ext cx="2547874" cy="3311327"/>
          </a:xfrm>
          <a:prstGeom prst="roundRect">
            <a:avLst>
              <a:gd name="adj" fmla="val 3232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DE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10562" y="1810742"/>
            <a:ext cx="2105171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Lessons Learned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10562" y="2229048"/>
            <a:ext cx="2105171" cy="1837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Die wichtigsten Erkenntnisse aus Umsetzung, Zusammenarbeit und technischer Entwicklung.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923908" y="1589385"/>
            <a:ext cx="2547973" cy="3311327"/>
          </a:xfrm>
          <a:prstGeom prst="roundRect">
            <a:avLst>
              <a:gd name="adj" fmla="val 3232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DE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5259" y="1810742"/>
            <a:ext cx="2105270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Danksagungen und Credits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5259" y="2535337"/>
            <a:ext cx="2105270" cy="1837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Dank an alle Mitwirkenden, Unterstützerinnen und Unterstützer sowie verwendete Ressourcen.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9814" y="5087541"/>
            <a:ext cx="10752067" cy="1167309"/>
          </a:xfrm>
          <a:prstGeom prst="roundRect">
            <a:avLst>
              <a:gd name="adj" fmla="val 7054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DE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41166" y="5308898"/>
            <a:ext cx="2531801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Kontakt &amp; Repository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41166" y="5727204"/>
            <a:ext cx="10309364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Kontaktinformationen, Projektseite oder Link zum Repository für weitere Informationen und Feedback.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1018</Words>
  <Application>Microsoft Office PowerPoint</Application>
  <PresentationFormat>Breitbild</PresentationFormat>
  <Paragraphs>207</Paragraphs>
  <Slides>20</Slides>
  <Notes>6</Notes>
  <HiddenSlides>0</HiddenSlides>
  <MMClips>4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9" baseType="lpstr">
      <vt:lpstr>Tahoma</vt:lpstr>
      <vt:lpstr>Gill Sans MT</vt:lpstr>
      <vt:lpstr>Courier New</vt:lpstr>
      <vt:lpstr>Aptos</vt:lpstr>
      <vt:lpstr>inherit</vt:lpstr>
      <vt:lpstr>-apple-system-body</vt:lpstr>
      <vt:lpstr>Arial</vt:lpstr>
      <vt:lpstr>Arial Unicode MS</vt:lpstr>
      <vt:lpstr>Parcel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/>
  <cp:lastModifiedBy>Mika Sprenger</cp:lastModifiedBy>
  <cp:revision>21</cp:revision>
  <dcterms:created xsi:type="dcterms:W3CDTF">2026-07-01T06:48:15Z</dcterms:created>
  <dcterms:modified xsi:type="dcterms:W3CDTF">2026-09-17T08:46:13Z</dcterms:modified>
</cp:coreProperties>
</file>