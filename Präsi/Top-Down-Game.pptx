
<file path=[Content_Types].xml><?xml version="1.0" encoding="utf-8"?>
<Types xmlns="http://schemas.openxmlformats.org/package/2006/content-types">
  <Default Extension="fntdata" ContentType="application/x-fontdata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52" r:id="rId1"/>
  </p:sldMasterIdLst>
  <p:notesMasterIdLst>
    <p:notesMasterId r:id="rId20"/>
  </p:notesMasterIdLst>
  <p:sldIdLst>
    <p:sldId id="256" r:id="rId2"/>
    <p:sldId id="261" r:id="rId3"/>
    <p:sldId id="266" r:id="rId4"/>
    <p:sldId id="262" r:id="rId5"/>
    <p:sldId id="264" r:id="rId6"/>
    <p:sldId id="265" r:id="rId7"/>
    <p:sldId id="270" r:id="rId8"/>
    <p:sldId id="269" r:id="rId9"/>
    <p:sldId id="263" r:id="rId10"/>
    <p:sldId id="271" r:id="rId11"/>
    <p:sldId id="272" r:id="rId12"/>
    <p:sldId id="273" r:id="rId13"/>
    <p:sldId id="274" r:id="rId14"/>
    <p:sldId id="275" r:id="rId15"/>
    <p:sldId id="257" r:id="rId16"/>
    <p:sldId id="258" r:id="rId17"/>
    <p:sldId id="259" r:id="rId18"/>
    <p:sldId id="260" r:id="rId19"/>
  </p:sldIdLst>
  <p:sldSz cx="12192000" cy="6858000"/>
  <p:notesSz cx="6858000" cy="12192000"/>
  <p:embeddedFontLst>
    <p:embeddedFont>
      <p:font typeface="Gill Sans MT" panose="020B0502020104020203" pitchFamily="34" charset="0"/>
      <p:regular r:id="rId21"/>
      <p:bold r:id="rId22"/>
      <p:italic r:id="rId23"/>
      <p:boldItalic r:id="rId24"/>
    </p:embeddedFont>
    <p:embeddedFont>
      <p:font typeface="Tahoma" panose="020B0604030504040204" pitchFamily="34" charset="0"/>
      <p:regular r:id="rId25"/>
      <p:bold r:id="rId26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93160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AF1E55-9557-3DD6-418F-F301A0B66D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4F8098-5C83-AFDA-48EE-15767D54AF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B4D61A-6868-7BF7-3CA3-07F697C9A4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E7CE66-67AE-3506-5932-7D1B52A10C0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03502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9/17/2026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269381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0A7B3-6521-4DCA-87E5-044747A908C1}" type="datetimeFigureOut">
              <a:rPr lang="en-US" dirty="0"/>
              <a:t>9/17/2026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4321932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9/17/2026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670118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34690-1557-4C89-A502-4959FE7FAD70}" type="datetimeFigureOut">
              <a:rPr lang="en-US" dirty="0"/>
              <a:t>9/17/2026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6154858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D4976-E339-4826-83B7-FBD03F55ECF8}" type="datetimeFigureOut">
              <a:rPr lang="en-US" dirty="0"/>
              <a:t>9/17/2026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9865430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37C31-9E7A-4F99-8774-A0E530DE1A42}" type="datetimeFigureOut">
              <a:rPr lang="en-US" dirty="0"/>
              <a:t>9/17/2026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8238420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78504F-A551-4DE0-9316-4DCD1D8CC752}" type="datetimeFigureOut">
              <a:rPr lang="en-US" dirty="0"/>
              <a:t>9/17/2026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6161470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BE4249-C0D0-4B06-8692-E8BB871AF643}" type="datetimeFigureOut">
              <a:rPr lang="en-US" dirty="0"/>
              <a:t>9/17/2026</a:t>
            </a:fld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0905303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042B0DB6-F5C7-45FB-8CF3-31B45F9C2DAC}" type="datetimeFigureOut">
              <a:rPr lang="en-US" dirty="0"/>
              <a:t>9/17/2026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4498039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9C37B-1D36-470B-8223-D6C91242EC14}" type="datetimeFigureOut">
              <a:rPr lang="en-US" dirty="0"/>
              <a:t>9/17/2026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2886242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6F52A-A82B-47A2-A83A-8C4C91F2D59F}" type="datetimeFigureOut">
              <a:rPr lang="en-US" dirty="0"/>
              <a:t>9/17/2026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5772646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master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177606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master 2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484884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1160EA64-D806-43AC-9DF2-F8C432F32B4C}" type="datetimeFigureOut">
              <a:rPr lang="en-US" dirty="0"/>
              <a:t>9/17/2026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85003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54" r:id="rId2"/>
    <p:sldLayoutId id="2147483655" r:id="rId3"/>
    <p:sldLayoutId id="2147483656" r:id="rId4"/>
    <p:sldLayoutId id="2147483657" r:id="rId5"/>
    <p:sldLayoutId id="2147483658" r:id="rId6"/>
    <p:sldLayoutId id="2147483659" r:id="rId7"/>
    <p:sldLayoutId id="2147483660" r:id="rId8"/>
    <p:sldLayoutId id="2147483661" r:id="rId9"/>
    <p:sldLayoutId id="2147483662" r:id="rId10"/>
    <p:sldLayoutId id="2147483663" r:id="rId11"/>
    <p:sldLayoutId id="2147483664" r:id="rId12"/>
    <p:sldLayoutId id="2147483665" r:id="rId13"/>
  </p:sldLayoutIdLst>
  <p:hf sldNum="0"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19965" y="1650107"/>
            <a:ext cx="5751765" cy="6427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4000" dirty="0">
                <a:solidFill>
                  <a:srgbClr val="F5F0F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Top Down Game</a:t>
            </a:r>
            <a:endParaRPr lang="en-US" sz="4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734203" y="2375098"/>
            <a:ext cx="4723290" cy="514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3200" dirty="0">
                <a:solidFill>
                  <a:srgbClr val="F5F0F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Von Mika</a:t>
            </a:r>
            <a:endParaRPr lang="en-US" sz="32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719814" y="3197721"/>
            <a:ext cx="10752067" cy="2010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600" b="1" dirty="0">
                <a:solidFill>
                  <a:srgbClr val="E2E6E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Datum des Projekts:</a:t>
            </a:r>
            <a:r>
              <a:rPr lang="en-US" sz="1600" dirty="0">
                <a:solidFill>
                  <a:srgbClr val="E2E6E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2026</a:t>
            </a:r>
            <a:endParaRPr lang="en-US" sz="16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 algn="ctr">
              <a:lnSpc>
                <a:spcPct val="133000"/>
              </a:lnSpc>
              <a:spcAft>
                <a:spcPts val="1800"/>
              </a:spcAft>
              <a:buNone/>
            </a:pPr>
            <a:r>
              <a:rPr lang="en-US" sz="1600" dirty="0">
                <a:solidFill>
                  <a:srgbClr val="E2E6E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Ein 3D-Rollenspiel mit Echtzeit-Kampfsystem</a:t>
            </a:r>
            <a:endParaRPr lang="en-US" sz="16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 algn="ctr">
              <a:lnSpc>
                <a:spcPct val="133000"/>
              </a:lnSpc>
              <a:buNone/>
            </a:pPr>
            <a:r>
              <a:rPr lang="en-US" sz="1600" b="1" dirty="0">
                <a:solidFill>
                  <a:srgbClr val="E2E6E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Projektdauer:</a:t>
            </a:r>
            <a:r>
              <a:rPr lang="en-US" sz="1600" dirty="0">
                <a:solidFill>
                  <a:srgbClr val="E2E6E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Mehrere Wochen</a:t>
            </a:r>
            <a:endParaRPr lang="en-US" sz="16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 algn="ctr">
              <a:lnSpc>
                <a:spcPct val="133000"/>
              </a:lnSpc>
              <a:buNone/>
            </a:pPr>
            <a:r>
              <a:rPr lang="en-US" sz="1600" b="1" dirty="0">
                <a:solidFill>
                  <a:srgbClr val="E2E6E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Ziele:</a:t>
            </a:r>
            <a:r>
              <a:rPr lang="en-US" sz="1600" dirty="0">
                <a:solidFill>
                  <a:srgbClr val="E2E6E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Ein spielbares Prototyp-Erlebnis mit Charaktersteuerung, Kampf und Looting entwickeln.</a:t>
            </a:r>
            <a:endParaRPr lang="en-US" sz="16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0832C2-5A6E-BEA0-5643-AAFBAC132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>
            <a:extLst>
              <a:ext uri="{FF2B5EF4-FFF2-40B4-BE49-F238E27FC236}">
                <a16:creationId xmlns:a16="http://schemas.microsoft.com/office/drawing/2014/main" id="{930DD108-C145-8E30-BC45-828E82943D7E}"/>
              </a:ext>
            </a:extLst>
          </p:cNvPr>
          <p:cNvSpPr/>
          <p:nvPr/>
        </p:nvSpPr>
        <p:spPr>
          <a:xfrm>
            <a:off x="719966" y="331617"/>
            <a:ext cx="11361652" cy="2112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16000"/>
              </a:lnSpc>
              <a:buSzPct val="100000"/>
            </a:pPr>
            <a:r>
              <a:rPr lang="en-US" sz="2400" dirty="0">
                <a:solidFill>
                  <a:srgbClr val="E2E6E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Was brauchen wir im Spiel?</a:t>
            </a:r>
            <a:endParaRPr lang="en-US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4507D350-15B4-2146-E31F-AF2004A6DFFD}"/>
              </a:ext>
            </a:extLst>
          </p:cNvPr>
          <p:cNvSpPr/>
          <p:nvPr/>
        </p:nvSpPr>
        <p:spPr>
          <a:xfrm>
            <a:off x="719966" y="919157"/>
            <a:ext cx="10752067" cy="33062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233680" indent="-233680" algn="l">
              <a:lnSpc>
                <a:spcPct val="116000"/>
              </a:lnSpc>
              <a:buSzPct val="100000"/>
              <a:buFont typeface="+mj-lt"/>
              <a:buAutoNum type="arabicPeriod"/>
            </a:pPr>
            <a:r>
              <a:rPr lang="en-US" sz="2400" dirty="0">
                <a:solidFill>
                  <a:srgbClr val="E2E6E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Hud</a:t>
            </a:r>
            <a:endParaRPr lang="en-US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233680" indent="-233680" algn="l">
              <a:lnSpc>
                <a:spcPct val="116000"/>
              </a:lnSpc>
              <a:buSzPct val="100000"/>
              <a:buFont typeface="+mj-lt"/>
              <a:buAutoNum type="arabicPeriod" startAt="2"/>
            </a:pPr>
            <a:r>
              <a:rPr lang="en-US" sz="2400" dirty="0" err="1">
                <a:solidFill>
                  <a:srgbClr val="E2E6E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Spieler</a:t>
            </a:r>
            <a:r>
              <a:rPr lang="en-US" sz="2400" dirty="0">
                <a:solidFill>
                  <a:srgbClr val="E2E6E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/</a:t>
            </a:r>
            <a:r>
              <a:rPr lang="en-US" sz="2400" dirty="0" err="1">
                <a:solidFill>
                  <a:srgbClr val="E2E6E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Gegner</a:t>
            </a:r>
            <a:endParaRPr lang="en-US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233680" indent="-233680" algn="l">
              <a:lnSpc>
                <a:spcPct val="116000"/>
              </a:lnSpc>
              <a:buSzPct val="100000"/>
              <a:buFont typeface="+mj-lt"/>
              <a:buAutoNum type="arabicPeriod" startAt="3"/>
            </a:pPr>
            <a:r>
              <a:rPr lang="en-US" sz="2400" dirty="0" err="1">
                <a:solidFill>
                  <a:srgbClr val="E2E6E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Bewegungen</a:t>
            </a:r>
            <a:endParaRPr lang="en-US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233680" indent="-233680" algn="l">
              <a:lnSpc>
                <a:spcPct val="116000"/>
              </a:lnSpc>
              <a:buSzPct val="100000"/>
              <a:buFont typeface="+mj-lt"/>
              <a:buAutoNum type="arabicPeriod" startAt="4"/>
            </a:pPr>
            <a:r>
              <a:rPr lang="en-US" sz="2400" dirty="0" err="1">
                <a:solidFill>
                  <a:srgbClr val="E2E6E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Karten</a:t>
            </a:r>
            <a:r>
              <a:rPr lang="en-US" sz="2400" dirty="0">
                <a:solidFill>
                  <a:srgbClr val="E2E6E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/Maps</a:t>
            </a:r>
            <a:endParaRPr lang="en-US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233680" indent="-233680" algn="l">
              <a:lnSpc>
                <a:spcPct val="116000"/>
              </a:lnSpc>
              <a:buSzPct val="100000"/>
              <a:buFont typeface="+mj-lt"/>
              <a:buAutoNum type="arabicPeriod" startAt="5"/>
            </a:pPr>
            <a:r>
              <a:rPr lang="en-US" sz="2400" dirty="0" err="1">
                <a:solidFill>
                  <a:srgbClr val="E2E6E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Angriffe</a:t>
            </a:r>
            <a:endParaRPr lang="en-US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233680" indent="-233680" algn="l">
              <a:lnSpc>
                <a:spcPct val="116000"/>
              </a:lnSpc>
              <a:buSzPct val="100000"/>
              <a:buFont typeface="+mj-lt"/>
              <a:buAutoNum type="arabicPeriod" startAt="6"/>
            </a:pPr>
            <a:r>
              <a:rPr lang="en-US" sz="2400" dirty="0" err="1">
                <a:solidFill>
                  <a:srgbClr val="E2E6E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Menüsystem</a:t>
            </a:r>
            <a:endParaRPr lang="en-US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233680" indent="-233680" algn="l">
              <a:lnSpc>
                <a:spcPct val="116000"/>
              </a:lnSpc>
              <a:buSzPct val="100000"/>
              <a:buFont typeface="+mj-lt"/>
              <a:buAutoNum type="arabicPeriod" startAt="7"/>
            </a:pPr>
            <a:r>
              <a:rPr lang="en-US" sz="2400" dirty="0" err="1">
                <a:solidFill>
                  <a:srgbClr val="E2E6E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Levelsystem</a:t>
            </a:r>
            <a:endParaRPr lang="en-US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233680" indent="-233680" algn="l">
              <a:lnSpc>
                <a:spcPct val="116000"/>
              </a:lnSpc>
              <a:buSzPct val="100000"/>
              <a:buFont typeface="+mj-lt"/>
              <a:buAutoNum type="arabicPeriod" startAt="8"/>
            </a:pPr>
            <a:r>
              <a:rPr lang="en-US" sz="2400" dirty="0" err="1">
                <a:solidFill>
                  <a:srgbClr val="E2E6E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Inventar</a:t>
            </a:r>
            <a:endParaRPr lang="en-US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2B441FB-3E4E-801D-68F0-4AB526B341D2}"/>
              </a:ext>
            </a:extLst>
          </p:cNvPr>
          <p:cNvSpPr/>
          <p:nvPr/>
        </p:nvSpPr>
        <p:spPr>
          <a:xfrm>
            <a:off x="719966" y="4601724"/>
            <a:ext cx="11361652" cy="2112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16000"/>
              </a:lnSpc>
              <a:buSzPct val="100000"/>
            </a:pPr>
            <a:r>
              <a:rPr lang="en-US" sz="2400" dirty="0">
                <a:solidFill>
                  <a:srgbClr val="E2E6E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Projektmanagement</a:t>
            </a:r>
            <a:endParaRPr lang="en-US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B5E249F1-D772-F522-4631-B5D35B005350}"/>
              </a:ext>
            </a:extLst>
          </p:cNvPr>
          <p:cNvSpPr/>
          <p:nvPr/>
        </p:nvSpPr>
        <p:spPr>
          <a:xfrm>
            <a:off x="719966" y="5059186"/>
            <a:ext cx="10752067" cy="12984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233680" indent="-233680" algn="l">
              <a:lnSpc>
                <a:spcPct val="116000"/>
              </a:lnSpc>
              <a:buSzPct val="100000"/>
              <a:buFont typeface="+mj-lt"/>
              <a:buAutoNum type="arabicPeriod"/>
            </a:pPr>
            <a:r>
              <a:rPr lang="en-US" sz="2400" dirty="0">
                <a:solidFill>
                  <a:srgbClr val="E2E6E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Meilensteine</a:t>
            </a:r>
            <a:endParaRPr lang="en-US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233680" indent="-233680" algn="l">
              <a:lnSpc>
                <a:spcPct val="116000"/>
              </a:lnSpc>
              <a:buSzPct val="100000"/>
              <a:buFont typeface="+mj-lt"/>
              <a:buAutoNum type="arabicPeriod" startAt="2"/>
            </a:pPr>
            <a:r>
              <a:rPr lang="en-US" sz="2400" dirty="0">
                <a:solidFill>
                  <a:srgbClr val="E2E6E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Zeitplan</a:t>
            </a:r>
            <a:endParaRPr lang="en-US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233680" indent="-233680" algn="l">
              <a:lnSpc>
                <a:spcPct val="116000"/>
              </a:lnSpc>
              <a:buSzPct val="100000"/>
              <a:buFont typeface="+mj-lt"/>
              <a:buAutoNum type="arabicPeriod" startAt="3"/>
            </a:pPr>
            <a:r>
              <a:rPr lang="en-US" sz="2400" dirty="0">
                <a:solidFill>
                  <a:srgbClr val="E2E6E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Rollen und Verantwortlichkeiten</a:t>
            </a:r>
            <a:endParaRPr lang="en-US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1580303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FA7820D6-8AE4-4D5E-98D6-996567FB50C6}"/>
              </a:ext>
            </a:extLst>
          </p:cNvPr>
          <p:cNvSpPr txBox="1"/>
          <p:nvPr/>
        </p:nvSpPr>
        <p:spPr>
          <a:xfrm>
            <a:off x="4057650" y="2228671"/>
            <a:ext cx="40767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7200" u="sng" dirty="0">
                <a:solidFill>
                  <a:schemeClr val="bg1"/>
                </a:solidFill>
              </a:rPr>
              <a:t>Spiel Idee</a:t>
            </a:r>
          </a:p>
        </p:txBody>
      </p:sp>
    </p:spTree>
    <p:extLst>
      <p:ext uri="{BB962C8B-B14F-4D97-AF65-F5344CB8AC3E}">
        <p14:creationId xmlns:p14="http://schemas.microsoft.com/office/powerpoint/2010/main" val="2209140869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D302F3C0-0FEF-463B-9F60-FA5F051DCD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5100" y="197346"/>
            <a:ext cx="11150600" cy="64633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de-DE" altLang="de-DE" sz="20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-apple-system-body"/>
              </a:rPr>
              <a:t>1. Spielidee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de-DE" altLang="de-DE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-apple-system-body"/>
              </a:rPr>
              <a:t>3D-Top-Down-Zombie-Survival-Spiel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de-DE" altLang="de-DE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-apple-system-body"/>
              </a:rPr>
              <a:t>Entwickelt mit </a:t>
            </a:r>
            <a:r>
              <a:rPr kumimoji="0" lang="de-DE" altLang="de-DE" sz="20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-apple-system-body"/>
              </a:rPr>
              <a:t>Python, </a:t>
            </a:r>
            <a:r>
              <a:rPr kumimoji="0" lang="de-DE" altLang="de-DE" sz="2000" b="1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-apple-system-body"/>
              </a:rPr>
              <a:t>Pygame</a:t>
            </a:r>
            <a:r>
              <a:rPr kumimoji="0" lang="de-DE" altLang="de-DE" sz="20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-apple-system-body"/>
              </a:rPr>
              <a:t> und OpenGL</a:t>
            </a:r>
            <a:endParaRPr kumimoji="0" lang="de-DE" altLang="de-DE" sz="20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-apple-system-body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de-DE" altLang="de-DE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-apple-system-body"/>
              </a:rPr>
              <a:t>Ziel: So lange wie möglich überleben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de-DE" altLang="de-DE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-apple-system-body"/>
              </a:rPr>
              <a:t>Endlose Wellen von Zombies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de-DE" altLang="de-DE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-apple-system-body"/>
              </a:rPr>
              <a:t>Gegner können Loot fallen lassen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altLang="de-DE" sz="2000" b="1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-apple-system-body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20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-apple-system-body"/>
              </a:rPr>
              <a:t>2. Waffen &amp; Ausrüstung</a:t>
            </a:r>
          </a:p>
          <a:p>
            <a:pPr lvl="1" defTabSz="914400">
              <a:buFontTx/>
              <a:buChar char="•"/>
            </a:pPr>
            <a:r>
              <a:rPr kumimoji="0" lang="de-DE" altLang="de-DE" sz="20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-apple-system-body"/>
              </a:rPr>
              <a:t>Pistole:</a:t>
            </a:r>
            <a:r>
              <a:rPr kumimoji="0" lang="de-DE" altLang="de-DE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-apple-system-body"/>
              </a:rPr>
              <a:t> hohe Feuerrate, geringer Schaden</a:t>
            </a:r>
          </a:p>
          <a:p>
            <a:pPr lvl="1" defTabSz="914400">
              <a:buFontTx/>
              <a:buChar char="•"/>
            </a:pPr>
            <a:r>
              <a:rPr kumimoji="0" lang="de-DE" altLang="de-DE" sz="20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-apple-system-body"/>
              </a:rPr>
              <a:t>Schrotflinte:</a:t>
            </a:r>
            <a:r>
              <a:rPr kumimoji="0" lang="de-DE" altLang="de-DE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-apple-system-body"/>
              </a:rPr>
              <a:t> Streuschuss, hoher Schaden auf kurze Distanz</a:t>
            </a:r>
          </a:p>
          <a:p>
            <a:pPr lvl="1" defTabSz="914400">
              <a:buFontTx/>
              <a:buChar char="•"/>
            </a:pPr>
            <a:r>
              <a:rPr kumimoji="0" lang="de-DE" altLang="de-DE" sz="20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-apple-system-body"/>
              </a:rPr>
              <a:t>Rifle:</a:t>
            </a:r>
            <a:r>
              <a:rPr kumimoji="0" lang="de-DE" altLang="de-DE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-apple-system-body"/>
              </a:rPr>
              <a:t> hoher Schaden, langsame Feuerrate</a:t>
            </a:r>
          </a:p>
          <a:p>
            <a:pPr lvl="1" defTabSz="914400">
              <a:buFontTx/>
              <a:buChar char="•"/>
            </a:pPr>
            <a:r>
              <a:rPr kumimoji="0" lang="de-DE" altLang="de-DE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-apple-system-body"/>
              </a:rPr>
              <a:t>Bis zu </a:t>
            </a:r>
            <a:r>
              <a:rPr kumimoji="0" lang="de-DE" altLang="de-DE" sz="20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-apple-system-body"/>
              </a:rPr>
              <a:t>3 Waffen gleichzeitig</a:t>
            </a:r>
            <a:endParaRPr kumimoji="0" lang="de-DE" altLang="de-DE" sz="20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-apple-system-body"/>
            </a:endParaRPr>
          </a:p>
          <a:p>
            <a:pPr lvl="1" defTabSz="914400">
              <a:buFontTx/>
              <a:buChar char="•"/>
            </a:pPr>
            <a:r>
              <a:rPr kumimoji="0" lang="de-DE" altLang="de-DE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-apple-system-body"/>
              </a:rPr>
              <a:t>Munition kann nachgeladen werden</a:t>
            </a:r>
          </a:p>
          <a:p>
            <a:pPr lvl="1" defTabSz="914400">
              <a:buFontTx/>
              <a:buChar char="•"/>
            </a:pPr>
            <a:r>
              <a:rPr kumimoji="0" lang="de-DE" altLang="de-DE" sz="20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-apple-system-body"/>
              </a:rPr>
              <a:t>Medkits</a:t>
            </a:r>
            <a:r>
              <a:rPr kumimoji="0" lang="de-DE" altLang="de-DE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-apple-system-body"/>
              </a:rPr>
              <a:t> zur Heilung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altLang="de-DE" sz="2000" b="1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-apple-system-body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20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-apple-system-body"/>
              </a:rPr>
              <a:t>3. Spielersteuerung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de-DE" altLang="de-DE" sz="20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-apple-system-body"/>
              </a:rPr>
              <a:t>WASD:</a:t>
            </a:r>
            <a:r>
              <a:rPr kumimoji="0" lang="de-DE" altLang="de-DE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-apple-system-body"/>
              </a:rPr>
              <a:t> Bewegung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de-DE" altLang="de-DE" sz="20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-apple-system-body"/>
              </a:rPr>
              <a:t>Shift:</a:t>
            </a:r>
            <a:r>
              <a:rPr kumimoji="0" lang="de-DE" altLang="de-DE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-apple-system-body"/>
              </a:rPr>
              <a:t> Sprinten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de-DE" altLang="de-DE" sz="20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-apple-system-body"/>
              </a:rPr>
              <a:t>Maus:</a:t>
            </a:r>
            <a:r>
              <a:rPr kumimoji="0" lang="de-DE" altLang="de-DE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-apple-system-body"/>
              </a:rPr>
              <a:t> Zielen und Schießen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de-DE" altLang="de-DE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-apple-system-body"/>
              </a:rPr>
              <a:t>Ausdauer-System beim Sprinten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de-DE" altLang="de-DE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-apple-system-body"/>
              </a:rPr>
              <a:t>Ausdauer regeneriert sich beim normalen Bewegen oder Stehen</a:t>
            </a:r>
          </a:p>
        </p:txBody>
      </p:sp>
    </p:spTree>
    <p:extLst>
      <p:ext uri="{BB962C8B-B14F-4D97-AF65-F5344CB8AC3E}">
        <p14:creationId xmlns:p14="http://schemas.microsoft.com/office/powerpoint/2010/main" val="1895974970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3DAE2FC1-63A6-4D60-B9C8-4109D96A82DA}"/>
              </a:ext>
            </a:extLst>
          </p:cNvPr>
          <p:cNvSpPr/>
          <p:nvPr/>
        </p:nvSpPr>
        <p:spPr>
          <a:xfrm>
            <a:off x="82550" y="181957"/>
            <a:ext cx="12026900" cy="59400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de-DE" altLang="de-DE" sz="2000" b="1" dirty="0">
                <a:solidFill>
                  <a:schemeClr val="bg1"/>
                </a:solidFill>
                <a:latin typeface="-apple-system-body"/>
              </a:rPr>
              <a:t>4. Zombie-Arten</a:t>
            </a:r>
          </a:p>
          <a:p>
            <a:pPr lvl="1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de-DE" altLang="de-DE" sz="2000" b="1" dirty="0">
                <a:solidFill>
                  <a:schemeClr val="bg1"/>
                </a:solidFill>
                <a:latin typeface="-apple-system-body"/>
              </a:rPr>
              <a:t>Normale Zombies:</a:t>
            </a:r>
            <a:r>
              <a:rPr lang="de-DE" altLang="de-DE" sz="2000" dirty="0">
                <a:solidFill>
                  <a:schemeClr val="bg1"/>
                </a:solidFill>
                <a:latin typeface="-apple-system-body"/>
              </a:rPr>
              <a:t> ausgewogene Geschwindigkeit und Schaden</a:t>
            </a:r>
          </a:p>
          <a:p>
            <a:pPr lvl="1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de-DE" altLang="de-DE" sz="2000" b="1" dirty="0">
                <a:solidFill>
                  <a:schemeClr val="bg1"/>
                </a:solidFill>
                <a:latin typeface="-apple-system-body"/>
              </a:rPr>
              <a:t>Schnelle Zombies:</a:t>
            </a:r>
            <a:r>
              <a:rPr lang="de-DE" altLang="de-DE" sz="2000" dirty="0">
                <a:solidFill>
                  <a:schemeClr val="bg1"/>
                </a:solidFill>
                <a:latin typeface="-apple-system-body"/>
              </a:rPr>
              <a:t> hohe Geschwindigkeit, weniger Schaden</a:t>
            </a:r>
          </a:p>
          <a:p>
            <a:pPr lvl="1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de-DE" altLang="de-DE" sz="2000" b="1" dirty="0">
                <a:solidFill>
                  <a:schemeClr val="bg1"/>
                </a:solidFill>
                <a:latin typeface="-apple-system-body"/>
              </a:rPr>
              <a:t>Tank-Zombies:</a:t>
            </a:r>
            <a:r>
              <a:rPr lang="de-DE" altLang="de-DE" sz="2000" dirty="0">
                <a:solidFill>
                  <a:schemeClr val="bg1"/>
                </a:solidFill>
                <a:latin typeface="-apple-system-body"/>
              </a:rPr>
              <a:t> langsam, aber sehr viele Lebenspunkte und hoher Schaden</a:t>
            </a:r>
          </a:p>
          <a:p>
            <a:pPr lvl="1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de-DE" altLang="de-DE" sz="2000" dirty="0">
                <a:solidFill>
                  <a:schemeClr val="bg1"/>
                </a:solidFill>
                <a:latin typeface="-apple-system-body"/>
              </a:rPr>
              <a:t>Alle Zombies verfolgen den Spieler automatisch</a:t>
            </a:r>
          </a:p>
          <a:p>
            <a:pPr lvl="1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de-DE" altLang="de-DE" sz="2000" dirty="0">
                <a:solidFill>
                  <a:schemeClr val="bg1"/>
                </a:solidFill>
                <a:latin typeface="-apple-system-body"/>
              </a:rPr>
              <a:t>Nahkampfangriffe</a:t>
            </a:r>
          </a:p>
          <a:p>
            <a:pPr lvl="1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de-DE" altLang="de-DE" sz="2000" dirty="0">
                <a:solidFill>
                  <a:schemeClr val="bg1"/>
                </a:solidFill>
                <a:latin typeface="-apple-system-body"/>
              </a:rPr>
              <a:t>Können nach dem Tod Loot hinterlassen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de-DE" altLang="de-DE" sz="2000" b="1" dirty="0">
              <a:solidFill>
                <a:schemeClr val="bg1"/>
              </a:solidFill>
              <a:latin typeface="-apple-system-body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de-DE" altLang="de-DE" sz="2000" b="1" dirty="0">
                <a:solidFill>
                  <a:schemeClr val="bg1"/>
                </a:solidFill>
                <a:latin typeface="-apple-system-body"/>
              </a:rPr>
              <a:t>5. Kampfsystem</a:t>
            </a:r>
          </a:p>
          <a:p>
            <a:pPr lvl="1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de-DE" altLang="de-DE" sz="2000" dirty="0">
                <a:solidFill>
                  <a:schemeClr val="bg1"/>
                </a:solidFill>
                <a:latin typeface="-apple-system-body"/>
              </a:rPr>
              <a:t>Schießen basiert auf </a:t>
            </a:r>
            <a:r>
              <a:rPr lang="de-DE" altLang="de-DE" sz="2000" b="1" dirty="0">
                <a:solidFill>
                  <a:schemeClr val="bg1"/>
                </a:solidFill>
                <a:latin typeface="-apple-system-body"/>
              </a:rPr>
              <a:t>Projektilen</a:t>
            </a:r>
            <a:endParaRPr lang="de-DE" altLang="de-DE" sz="2000" dirty="0">
              <a:solidFill>
                <a:schemeClr val="bg1"/>
              </a:solidFill>
              <a:latin typeface="-apple-system-body"/>
            </a:endParaRPr>
          </a:p>
          <a:p>
            <a:pPr lvl="1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de-DE" altLang="de-DE" sz="2000" dirty="0">
                <a:solidFill>
                  <a:schemeClr val="bg1"/>
                </a:solidFill>
                <a:latin typeface="-apple-system-body"/>
              </a:rPr>
              <a:t>Kugeln entstehen am Lauf der ausgerüsteten Waffe</a:t>
            </a:r>
          </a:p>
          <a:p>
            <a:pPr lvl="1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de-DE" altLang="de-DE" sz="2000" dirty="0">
                <a:solidFill>
                  <a:schemeClr val="bg1"/>
                </a:solidFill>
                <a:latin typeface="-apple-system-body"/>
              </a:rPr>
              <a:t>Kollisionserkennung mit Zombies und Hindernissen</a:t>
            </a:r>
          </a:p>
          <a:p>
            <a:pPr lvl="1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de-DE" altLang="de-DE" sz="2000" dirty="0">
                <a:solidFill>
                  <a:schemeClr val="bg1"/>
                </a:solidFill>
                <a:latin typeface="-apple-system-body"/>
              </a:rPr>
              <a:t>Treffer verursachen Schaden</a:t>
            </a:r>
          </a:p>
          <a:p>
            <a:pPr lvl="1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de-DE" altLang="de-DE" sz="2000" dirty="0">
                <a:solidFill>
                  <a:schemeClr val="bg1"/>
                </a:solidFill>
                <a:latin typeface="-apple-system-body"/>
              </a:rPr>
              <a:t>Visuelle Effekte wie </a:t>
            </a:r>
            <a:r>
              <a:rPr lang="de-DE" altLang="de-DE" sz="2000" b="1" dirty="0">
                <a:solidFill>
                  <a:schemeClr val="bg1"/>
                </a:solidFill>
                <a:latin typeface="-apple-system-body"/>
              </a:rPr>
              <a:t>Funken und Blutpartikel</a:t>
            </a:r>
            <a:endParaRPr lang="de-DE" altLang="de-DE" sz="2000" dirty="0">
              <a:solidFill>
                <a:schemeClr val="bg1"/>
              </a:solidFill>
              <a:latin typeface="-apple-system-body"/>
            </a:endParaRPr>
          </a:p>
          <a:p>
            <a:pPr lvl="1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de-DE" altLang="de-DE" sz="2000" dirty="0">
                <a:solidFill>
                  <a:schemeClr val="bg1"/>
                </a:solidFill>
                <a:latin typeface="-apple-system-body"/>
              </a:rPr>
              <a:t>Waffen unterscheiden sich bei:</a:t>
            </a:r>
          </a:p>
          <a:p>
            <a:pPr lvl="2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de-DE" altLang="de-DE" sz="2000" dirty="0">
                <a:solidFill>
                  <a:schemeClr val="bg1"/>
                </a:solidFill>
                <a:latin typeface="-apple-system-body"/>
              </a:rPr>
              <a:t>Feuerrate</a:t>
            </a:r>
          </a:p>
          <a:p>
            <a:pPr lvl="2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de-DE" altLang="de-DE" sz="2000" dirty="0">
                <a:solidFill>
                  <a:schemeClr val="bg1"/>
                </a:solidFill>
                <a:latin typeface="-apple-system-body"/>
              </a:rPr>
              <a:t>Genauigkeit</a:t>
            </a:r>
          </a:p>
          <a:p>
            <a:pPr lvl="2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de-DE" altLang="de-DE" sz="2000" dirty="0">
                <a:solidFill>
                  <a:schemeClr val="bg1"/>
                </a:solidFill>
                <a:latin typeface="-apple-system-body"/>
              </a:rPr>
              <a:t>Schaden</a:t>
            </a:r>
          </a:p>
          <a:p>
            <a:pPr lvl="2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de-DE" altLang="de-DE" sz="2000" dirty="0">
                <a:solidFill>
                  <a:schemeClr val="bg1"/>
                </a:solidFill>
                <a:latin typeface="-apple-system-body"/>
              </a:rPr>
              <a:t>Nachladezeit</a:t>
            </a:r>
          </a:p>
        </p:txBody>
      </p:sp>
    </p:spTree>
    <p:extLst>
      <p:ext uri="{BB962C8B-B14F-4D97-AF65-F5344CB8AC3E}">
        <p14:creationId xmlns:p14="http://schemas.microsoft.com/office/powerpoint/2010/main" val="1297110713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38ADBD34-2B18-4E3C-AAE2-B15CD7E1E9EF}"/>
              </a:ext>
            </a:extLst>
          </p:cNvPr>
          <p:cNvSpPr/>
          <p:nvPr/>
        </p:nvSpPr>
        <p:spPr>
          <a:xfrm>
            <a:off x="406400" y="151179"/>
            <a:ext cx="11379200" cy="65556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de-DE" altLang="de-DE" sz="2000" b="1" dirty="0">
                <a:solidFill>
                  <a:schemeClr val="bg1"/>
                </a:solidFill>
                <a:latin typeface="-apple-system-body"/>
              </a:rPr>
              <a:t>6. Wellen-System</a:t>
            </a:r>
          </a:p>
          <a:p>
            <a:pPr lvl="1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de-DE" altLang="de-DE" sz="2000" dirty="0">
                <a:solidFill>
                  <a:schemeClr val="bg1"/>
                </a:solidFill>
                <a:latin typeface="-apple-system-body"/>
              </a:rPr>
              <a:t>Spiel besteht aus immer schwierigeren Wellen</a:t>
            </a:r>
          </a:p>
          <a:p>
            <a:pPr lvl="1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de-DE" altLang="de-DE" sz="2000" dirty="0">
                <a:solidFill>
                  <a:schemeClr val="bg1"/>
                </a:solidFill>
                <a:latin typeface="-apple-system-body"/>
              </a:rPr>
              <a:t>Anfangs wenige Zombies</a:t>
            </a:r>
          </a:p>
          <a:p>
            <a:pPr lvl="1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de-DE" altLang="de-DE" sz="2000" dirty="0">
                <a:solidFill>
                  <a:schemeClr val="bg1"/>
                </a:solidFill>
                <a:latin typeface="-apple-system-body"/>
              </a:rPr>
              <a:t>Jede neue Welle erhöht die Anzahl und Schwierigkeit</a:t>
            </a:r>
          </a:p>
          <a:p>
            <a:pPr lvl="1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de-DE" altLang="de-DE" sz="2000" dirty="0">
                <a:solidFill>
                  <a:schemeClr val="bg1"/>
                </a:solidFill>
                <a:latin typeface="-apple-system-body"/>
              </a:rPr>
              <a:t>Nach einer abgeschlossenen Welle gibt es eine kurze Pause</a:t>
            </a:r>
          </a:p>
          <a:p>
            <a:pPr lvl="1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de-DE" altLang="de-DE" sz="2000" dirty="0">
                <a:solidFill>
                  <a:schemeClr val="bg1"/>
                </a:solidFill>
                <a:latin typeface="-apple-system-body"/>
              </a:rPr>
              <a:t>Neue Zombies werden mit Abstand zum Spieler gespawnt</a:t>
            </a:r>
            <a:endParaRPr lang="de-DE" altLang="de-DE" sz="2000" b="1" dirty="0">
              <a:solidFill>
                <a:schemeClr val="bg1"/>
              </a:solidFill>
              <a:latin typeface="-apple-system-body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de-DE" altLang="de-DE" sz="2000" b="1" dirty="0">
                <a:solidFill>
                  <a:schemeClr val="bg1"/>
                </a:solidFill>
                <a:latin typeface="-apple-system-body"/>
              </a:rPr>
              <a:t>7. Spieltechnik</a:t>
            </a:r>
          </a:p>
          <a:p>
            <a:pPr lvl="1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de-DE" altLang="de-DE" sz="2000" dirty="0">
                <a:solidFill>
                  <a:schemeClr val="bg1"/>
                </a:solidFill>
                <a:latin typeface="-apple-system-body"/>
              </a:rPr>
              <a:t>Zentrale </a:t>
            </a:r>
            <a:r>
              <a:rPr lang="de-DE" altLang="de-DE" sz="2000" b="1" dirty="0">
                <a:solidFill>
                  <a:schemeClr val="bg1"/>
                </a:solidFill>
                <a:latin typeface="-apple-system-body"/>
              </a:rPr>
              <a:t>Game Loop</a:t>
            </a:r>
            <a:endParaRPr lang="de-DE" altLang="de-DE" sz="2000" dirty="0">
              <a:solidFill>
                <a:schemeClr val="bg1"/>
              </a:solidFill>
              <a:latin typeface="-apple-system-body"/>
            </a:endParaRPr>
          </a:p>
          <a:p>
            <a:pPr lvl="1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de-DE" altLang="de-DE" sz="2000" dirty="0">
                <a:solidFill>
                  <a:schemeClr val="bg1"/>
                </a:solidFill>
                <a:latin typeface="-apple-system-body"/>
              </a:rPr>
              <a:t>Verarbeitung von:</a:t>
            </a:r>
          </a:p>
          <a:p>
            <a:pPr lvl="2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de-DE" altLang="de-DE" sz="2000" dirty="0">
                <a:solidFill>
                  <a:schemeClr val="bg1"/>
                </a:solidFill>
                <a:latin typeface="-apple-system-body"/>
              </a:rPr>
              <a:t>Tastatur- und Mauseingaben</a:t>
            </a:r>
          </a:p>
          <a:p>
            <a:pPr lvl="2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de-DE" altLang="de-DE" sz="2000" dirty="0">
                <a:solidFill>
                  <a:schemeClr val="bg1"/>
                </a:solidFill>
                <a:latin typeface="-apple-system-body"/>
              </a:rPr>
              <a:t>Spielobjekten</a:t>
            </a:r>
          </a:p>
          <a:p>
            <a:pPr lvl="2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de-DE" altLang="de-DE" sz="2000" dirty="0">
                <a:solidFill>
                  <a:schemeClr val="bg1"/>
                </a:solidFill>
                <a:latin typeface="-apple-system-body"/>
              </a:rPr>
              <a:t>Kollisionen</a:t>
            </a:r>
          </a:p>
          <a:p>
            <a:pPr lvl="2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de-DE" altLang="de-DE" sz="2000" dirty="0">
                <a:solidFill>
                  <a:schemeClr val="bg1"/>
                </a:solidFill>
                <a:latin typeface="-apple-system-body"/>
              </a:rPr>
              <a:t>Rendering</a:t>
            </a:r>
          </a:p>
          <a:p>
            <a:pPr lvl="1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de-DE" altLang="de-DE" sz="2000" dirty="0">
                <a:solidFill>
                  <a:schemeClr val="bg1"/>
                </a:solidFill>
                <a:latin typeface="-apple-system-body"/>
              </a:rPr>
              <a:t>Kontinuierliche Aktualisierung der gesamten Spielwelt</a:t>
            </a:r>
            <a:endParaRPr lang="de-DE" altLang="de-DE" sz="2000" b="1" dirty="0">
              <a:solidFill>
                <a:schemeClr val="bg1"/>
              </a:solidFill>
              <a:latin typeface="-apple-system-body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de-DE" altLang="de-DE" sz="2000" b="1" dirty="0">
                <a:solidFill>
                  <a:schemeClr val="bg1"/>
                </a:solidFill>
                <a:latin typeface="-apple-system-body"/>
              </a:rPr>
              <a:t>8. 3D-Grafik &amp; Beleuchtung</a:t>
            </a:r>
          </a:p>
          <a:p>
            <a:pPr lvl="1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de-DE" altLang="de-DE" sz="2000" dirty="0">
                <a:solidFill>
                  <a:schemeClr val="bg1"/>
                </a:solidFill>
                <a:latin typeface="-apple-system-body"/>
              </a:rPr>
              <a:t>Vollständige 3D-Darstellung mit </a:t>
            </a:r>
            <a:r>
              <a:rPr lang="de-DE" altLang="de-DE" sz="2000" b="1" dirty="0">
                <a:solidFill>
                  <a:schemeClr val="bg1"/>
                </a:solidFill>
                <a:latin typeface="-apple-system-body"/>
              </a:rPr>
              <a:t>OpenGL</a:t>
            </a:r>
            <a:endParaRPr lang="de-DE" altLang="de-DE" sz="2000" dirty="0">
              <a:solidFill>
                <a:schemeClr val="bg1"/>
              </a:solidFill>
              <a:latin typeface="-apple-system-body"/>
            </a:endParaRPr>
          </a:p>
          <a:p>
            <a:pPr lvl="1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de-DE" altLang="de-DE" sz="2000" b="1" dirty="0" err="1">
                <a:solidFill>
                  <a:schemeClr val="bg1"/>
                </a:solidFill>
                <a:latin typeface="-apple-system-body"/>
              </a:rPr>
              <a:t>Phong-Shading</a:t>
            </a:r>
            <a:r>
              <a:rPr lang="de-DE" altLang="de-DE" sz="2000" dirty="0">
                <a:solidFill>
                  <a:schemeClr val="bg1"/>
                </a:solidFill>
                <a:latin typeface="-apple-system-body"/>
              </a:rPr>
              <a:t> für realistischere Beleuchtung</a:t>
            </a:r>
          </a:p>
          <a:p>
            <a:pPr lvl="1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de-DE" altLang="de-DE" sz="2000" b="1" dirty="0">
                <a:solidFill>
                  <a:schemeClr val="bg1"/>
                </a:solidFill>
                <a:latin typeface="-apple-system-body"/>
              </a:rPr>
              <a:t>Spotlight</a:t>
            </a:r>
            <a:r>
              <a:rPr lang="de-DE" altLang="de-DE" sz="2000" dirty="0">
                <a:solidFill>
                  <a:schemeClr val="bg1"/>
                </a:solidFill>
                <a:latin typeface="-apple-system-body"/>
              </a:rPr>
              <a:t> beleuchtet die Umgebung rund um den Spieler</a:t>
            </a:r>
          </a:p>
          <a:p>
            <a:pPr lvl="1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de-DE" altLang="de-DE" sz="2000" dirty="0">
                <a:solidFill>
                  <a:schemeClr val="bg1"/>
                </a:solidFill>
                <a:latin typeface="-apple-system-body"/>
              </a:rPr>
              <a:t>Prozedural erzeugte 3D-Geometrie</a:t>
            </a:r>
          </a:p>
          <a:p>
            <a:pPr lvl="1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de-DE" altLang="de-DE" sz="2000" dirty="0">
                <a:solidFill>
                  <a:schemeClr val="bg1"/>
                </a:solidFill>
                <a:latin typeface="-apple-system-body"/>
              </a:rPr>
              <a:t>Verwendung von Würfeln, Zylindern und einfachen Flächen</a:t>
            </a:r>
          </a:p>
          <a:p>
            <a:pPr lvl="1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de-DE" altLang="de-DE" sz="2000" dirty="0">
                <a:solidFill>
                  <a:schemeClr val="bg1"/>
                </a:solidFill>
                <a:latin typeface="-apple-system-body"/>
              </a:rPr>
              <a:t>Keine externen 3D-Modelle notwendig</a:t>
            </a:r>
          </a:p>
        </p:txBody>
      </p:sp>
    </p:spTree>
    <p:extLst>
      <p:ext uri="{BB962C8B-B14F-4D97-AF65-F5344CB8AC3E}">
        <p14:creationId xmlns:p14="http://schemas.microsoft.com/office/powerpoint/2010/main" val="1460241891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2027A8B8-342D-4FA7-A595-3DEF32E95E8C}"/>
              </a:ext>
            </a:extLst>
          </p:cNvPr>
          <p:cNvSpPr txBox="1"/>
          <p:nvPr/>
        </p:nvSpPr>
        <p:spPr>
          <a:xfrm>
            <a:off x="2063750" y="2413337"/>
            <a:ext cx="80645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0" u="sng" dirty="0">
                <a:solidFill>
                  <a:schemeClr val="bg1"/>
                </a:solidFill>
              </a:rPr>
              <a:t>Entwicklung des Spiels</a:t>
            </a:r>
          </a:p>
        </p:txBody>
      </p:sp>
    </p:spTree>
    <p:extLst>
      <p:ext uri="{BB962C8B-B14F-4D97-AF65-F5344CB8AC3E}">
        <p14:creationId xmlns:p14="http://schemas.microsoft.com/office/powerpoint/2010/main" val="2643098769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Enemy">
            <a:hlinkClick r:id="" action="ppaction://media"/>
            <a:extLst>
              <a:ext uri="{FF2B5EF4-FFF2-40B4-BE49-F238E27FC236}">
                <a16:creationId xmlns:a16="http://schemas.microsoft.com/office/drawing/2014/main" id="{24FAF0DD-C228-4809-985C-BC17728A0B4E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076838" y="754511"/>
            <a:ext cx="8038323" cy="5348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304940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33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  <p:video>
              <p:cMediaNode vol="80000">
                <p:cTn id="1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">
            <a:hlinkClick r:id="" action="ppaction://media"/>
            <a:extLst>
              <a:ext uri="{FF2B5EF4-FFF2-40B4-BE49-F238E27FC236}">
                <a16:creationId xmlns:a16="http://schemas.microsoft.com/office/drawing/2014/main" id="{7BC81A15-88CB-4B74-8983-053CE0959F3A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814501" y="1429836"/>
            <a:ext cx="6562997" cy="3998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604269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  <p:video>
              <p:cMediaNode vol="80000">
                <p:cTn id="1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E2B66E7D-8CA5-4F4C-A0ED-5017909540DC}"/>
              </a:ext>
            </a:extLst>
          </p:cNvPr>
          <p:cNvSpPr/>
          <p:nvPr/>
        </p:nvSpPr>
        <p:spPr>
          <a:xfrm>
            <a:off x="95250" y="2780437"/>
            <a:ext cx="12001500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4400" u="sng" dirty="0">
                <a:solidFill>
                  <a:schemeClr val="bg1"/>
                </a:solidFill>
              </a:rPr>
              <a:t>3D Graphik und </a:t>
            </a:r>
            <a:r>
              <a:rPr lang="de-DE" sz="4400" u="sng" dirty="0" err="1">
                <a:solidFill>
                  <a:schemeClr val="bg1"/>
                </a:solidFill>
              </a:rPr>
              <a:t>Shader</a:t>
            </a:r>
            <a:r>
              <a:rPr lang="de-DE" sz="4400" u="sng" dirty="0">
                <a:solidFill>
                  <a:schemeClr val="bg1"/>
                </a:solidFill>
              </a:rPr>
              <a:t> im Überblick mit OpenGL </a:t>
            </a:r>
          </a:p>
        </p:txBody>
      </p:sp>
    </p:spTree>
    <p:extLst>
      <p:ext uri="{BB962C8B-B14F-4D97-AF65-F5344CB8AC3E}">
        <p14:creationId xmlns:p14="http://schemas.microsoft.com/office/powerpoint/2010/main" val="12319496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15DC9D5-A433-4A3F-B206-48CEBD3F83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8300" y="425002"/>
            <a:ext cx="9563100" cy="589392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vert="horz" wrap="square" lIns="91440" tIns="4572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20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-apple-system-body"/>
              </a:rPr>
              <a:t>1. Ein Punkt hat jetzt 3 Koordinaten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-apple-system-body"/>
              </a:rPr>
              <a:t>Bei normalem 2D-Pygame hast du:</a:t>
            </a:r>
            <a:endParaRPr kumimoji="0" lang="de-DE" altLang="de-DE" sz="20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 Unicode MS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 Unicode MS"/>
                <a:cs typeface="Courier New" panose="02070309020205020404" pitchFamily="49" charset="0"/>
              </a:rPr>
              <a:t>(x, y) </a:t>
            </a:r>
            <a:endParaRPr kumimoji="0" lang="de-DE" altLang="de-DE" sz="20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-apple-system-body"/>
              </a:rPr>
              <a:t>Zum Beispiel:</a:t>
            </a:r>
            <a:endParaRPr kumimoji="0" lang="de-DE" altLang="de-DE" sz="20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 Unicode MS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 Unicode MS"/>
                <a:cs typeface="Courier New" panose="02070309020205020404" pitchFamily="49" charset="0"/>
              </a:rPr>
              <a:t>x = 100 y = 200 </a:t>
            </a:r>
            <a:endParaRPr kumimoji="0" lang="de-DE" altLang="de-DE" sz="20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-apple-system-body"/>
              </a:rPr>
              <a:t>Bei 3D hast du:</a:t>
            </a:r>
            <a:endParaRPr kumimoji="0" lang="de-DE" altLang="de-DE" sz="20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 Unicode MS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 Unicode MS"/>
                <a:cs typeface="Courier New" panose="02070309020205020404" pitchFamily="49" charset="0"/>
              </a:rPr>
              <a:t>(x, y, z) </a:t>
            </a:r>
            <a:endParaRPr kumimoji="0" lang="de-DE" altLang="de-DE" sz="20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-apple-system-body"/>
              </a:rPr>
              <a:t>Zum Beispiel:</a:t>
            </a:r>
            <a:endParaRPr kumimoji="0" lang="de-DE" altLang="de-DE" sz="20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 Unicode MS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 Unicode MS"/>
                <a:cs typeface="Courier New" panose="02070309020205020404" pitchFamily="49" charset="0"/>
              </a:rPr>
              <a:t>x = 2 y = 1 z = -5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altLang="de-DE" sz="20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 Unicode MS"/>
                <a:cs typeface="Courier New" panose="02070309020205020404" pitchFamily="49" charset="0"/>
              </a:rPr>
              <a:t>Y ↑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DE" altLang="de-DE" sz="2000" dirty="0">
                <a:solidFill>
                  <a:schemeClr val="bg1"/>
                </a:solidFill>
                <a:latin typeface="Arial Unicode MS"/>
                <a:cs typeface="Courier New" panose="02070309020205020404" pitchFamily="49" charset="0"/>
              </a:rPr>
              <a:t>    </a:t>
            </a:r>
            <a:r>
              <a:rPr kumimoji="0" lang="de-DE" altLang="de-DE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 Unicode MS"/>
                <a:cs typeface="Courier New" panose="02070309020205020404" pitchFamily="49" charset="0"/>
              </a:rPr>
              <a:t>|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DE" altLang="de-DE" sz="2000" dirty="0">
                <a:solidFill>
                  <a:schemeClr val="bg1"/>
                </a:solidFill>
                <a:latin typeface="Arial Unicode MS"/>
                <a:cs typeface="Courier New" panose="02070309020205020404" pitchFamily="49" charset="0"/>
              </a:rPr>
              <a:t>    </a:t>
            </a:r>
            <a:r>
              <a:rPr kumimoji="0" lang="de-DE" altLang="de-DE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 Unicode MS"/>
                <a:cs typeface="Courier New" panose="02070309020205020404" pitchFamily="49" charset="0"/>
              </a:rPr>
              <a:t>|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DE" altLang="de-DE" sz="2000" dirty="0">
                <a:solidFill>
                  <a:schemeClr val="bg1"/>
                </a:solidFill>
                <a:latin typeface="Arial Unicode MS"/>
                <a:cs typeface="Courier New" panose="02070309020205020404" pitchFamily="49" charset="0"/>
              </a:rPr>
              <a:t>    </a:t>
            </a:r>
            <a:r>
              <a:rPr kumimoji="0" lang="de-DE" altLang="de-DE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 Unicode MS"/>
                <a:cs typeface="Courier New" panose="02070309020205020404" pitchFamily="49" charset="0"/>
              </a:rPr>
              <a:t>|_______→ X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DE" altLang="de-DE" sz="2000" dirty="0">
                <a:solidFill>
                  <a:schemeClr val="bg1"/>
                </a:solidFill>
                <a:latin typeface="Arial Unicode MS"/>
                <a:cs typeface="Courier New" panose="02070309020205020404" pitchFamily="49" charset="0"/>
              </a:rPr>
              <a:t>   </a:t>
            </a:r>
            <a:r>
              <a:rPr kumimoji="0" lang="de-DE" altLang="de-DE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 Unicode MS"/>
                <a:cs typeface="Courier New" panose="02070309020205020404" pitchFamily="49" charset="0"/>
              </a:rPr>
              <a:t>/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DE" altLang="de-DE" sz="2000" dirty="0">
                <a:solidFill>
                  <a:schemeClr val="bg1"/>
                </a:solidFill>
                <a:latin typeface="Arial Unicode MS"/>
                <a:cs typeface="Courier New" panose="02070309020205020404" pitchFamily="49" charset="0"/>
              </a:rPr>
              <a:t>  </a:t>
            </a:r>
            <a:r>
              <a:rPr kumimoji="0" lang="de-DE" altLang="de-DE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 Unicode MS"/>
                <a:cs typeface="Courier New" panose="02070309020205020404" pitchFamily="49" charset="0"/>
              </a:rPr>
              <a:t>/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 Unicode MS"/>
                <a:cs typeface="Courier New" panose="02070309020205020404" pitchFamily="49" charset="0"/>
              </a:rPr>
              <a:t> ↓ Z </a:t>
            </a:r>
            <a:endParaRPr kumimoji="0" lang="de-DE" altLang="de-DE" sz="20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-apple-system-body"/>
              </a:rPr>
              <a:t>Damit kann ein Punkt nicht nur links/rechts und oben/unten liegen, sondern auch </a:t>
            </a:r>
            <a:r>
              <a:rPr kumimoji="0" lang="de-DE" altLang="de-DE" sz="20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-apple-system-body"/>
              </a:rPr>
              <a:t>vorne/hinten</a:t>
            </a:r>
            <a:r>
              <a:rPr kumimoji="0" lang="de-DE" altLang="de-DE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-apple-system-body"/>
              </a:rPr>
              <a:t>.</a:t>
            </a:r>
            <a:endParaRPr kumimoji="0" lang="de-DE" altLang="de-DE" sz="20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768373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>
            <a:extLst>
              <a:ext uri="{FF2B5EF4-FFF2-40B4-BE49-F238E27FC236}">
                <a16:creationId xmlns:a16="http://schemas.microsoft.com/office/drawing/2014/main" id="{D9B6FED0-D6AE-40D1-B3E2-29B895E8FF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82039"/>
            <a:ext cx="12192000" cy="589392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vert="horz" wrap="square" lIns="91440" tIns="4572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20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-apple-system-body"/>
              </a:rPr>
              <a:t>2. Ein Würfel besteht aus Punkten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-apple-system-body"/>
              </a:rPr>
              <a:t>Ein Würfel könnte beispielsweise diese 8 Eckpunkte haben:</a:t>
            </a:r>
          </a:p>
          <a:p>
            <a:pPr lvl="0" defTabSz="914400"/>
            <a:r>
              <a:rPr lang="de-DE" altLang="de-DE" sz="2000" dirty="0">
                <a:solidFill>
                  <a:schemeClr val="bg1"/>
                </a:solidFill>
                <a:latin typeface="Arial Unicode MS"/>
                <a:cs typeface="Courier New" panose="02070309020205020404" pitchFamily="49" charset="0"/>
              </a:rPr>
              <a:t>        4─────────5</a:t>
            </a:r>
          </a:p>
          <a:p>
            <a:pPr lvl="0" defTabSz="914400"/>
            <a:r>
              <a:rPr lang="de-DE" altLang="de-DE" sz="2000" dirty="0">
                <a:solidFill>
                  <a:schemeClr val="bg1"/>
                </a:solidFill>
                <a:latin typeface="Arial Unicode MS"/>
                <a:cs typeface="Courier New" panose="02070309020205020404" pitchFamily="49" charset="0"/>
              </a:rPr>
              <a:t>       / │                    /│</a:t>
            </a:r>
          </a:p>
          <a:p>
            <a:pPr lvl="0" defTabSz="914400"/>
            <a:r>
              <a:rPr lang="de-DE" altLang="de-DE" sz="2000" dirty="0">
                <a:solidFill>
                  <a:schemeClr val="bg1"/>
                </a:solidFill>
                <a:latin typeface="Arial Unicode MS"/>
                <a:cs typeface="Courier New" panose="02070309020205020404" pitchFamily="49" charset="0"/>
              </a:rPr>
              <a:t>      /  │                   / │</a:t>
            </a:r>
          </a:p>
          <a:p>
            <a:pPr lvl="0" defTabSz="914400"/>
            <a:r>
              <a:rPr lang="de-DE" altLang="de-DE" sz="2000" dirty="0">
                <a:solidFill>
                  <a:schemeClr val="bg1"/>
                </a:solidFill>
                <a:latin typeface="Arial Unicode MS"/>
                <a:cs typeface="Courier New" panose="02070309020205020404" pitchFamily="49" charset="0"/>
              </a:rPr>
              <a:t>     7────────6  │</a:t>
            </a:r>
          </a:p>
          <a:p>
            <a:pPr lvl="0" defTabSz="914400"/>
            <a:r>
              <a:rPr lang="de-DE" altLang="de-DE" sz="2000" dirty="0">
                <a:solidFill>
                  <a:schemeClr val="bg1"/>
                </a:solidFill>
                <a:latin typeface="Arial Unicode MS"/>
                <a:cs typeface="Courier New" panose="02070309020205020404" pitchFamily="49" charset="0"/>
              </a:rPr>
              <a:t>     │  │                │  │</a:t>
            </a:r>
          </a:p>
          <a:p>
            <a:pPr lvl="0" defTabSz="914400"/>
            <a:r>
              <a:rPr lang="de-DE" altLang="de-DE" sz="2000" dirty="0">
                <a:solidFill>
                  <a:schemeClr val="bg1"/>
                </a:solidFill>
                <a:latin typeface="Arial Unicode MS"/>
                <a:cs typeface="Courier New" panose="02070309020205020404" pitchFamily="49" charset="0"/>
              </a:rPr>
              <a:t>     │  0──────│─1</a:t>
            </a:r>
          </a:p>
          <a:p>
            <a:pPr lvl="0" defTabSz="914400"/>
            <a:r>
              <a:rPr lang="de-DE" altLang="de-DE" sz="2000" dirty="0">
                <a:solidFill>
                  <a:schemeClr val="bg1"/>
                </a:solidFill>
                <a:latin typeface="Arial Unicode MS"/>
                <a:cs typeface="Courier New" panose="02070309020205020404" pitchFamily="49" charset="0"/>
              </a:rPr>
              <a:t>     │ /                  │ /</a:t>
            </a:r>
          </a:p>
          <a:p>
            <a:pPr lvl="0" defTabSz="914400"/>
            <a:r>
              <a:rPr lang="de-DE" altLang="de-DE" sz="2000" dirty="0">
                <a:solidFill>
                  <a:schemeClr val="bg1"/>
                </a:solidFill>
                <a:latin typeface="Arial Unicode MS"/>
                <a:cs typeface="Courier New" panose="02070309020205020404" pitchFamily="49" charset="0"/>
              </a:rPr>
              <a:t>     │/                   │/</a:t>
            </a:r>
          </a:p>
          <a:p>
            <a:pPr lvl="0" defTabSz="914400"/>
            <a:r>
              <a:rPr lang="de-DE" altLang="de-DE" sz="2000" dirty="0">
                <a:solidFill>
                  <a:schemeClr val="bg1"/>
                </a:solidFill>
                <a:latin typeface="Arial Unicode MS"/>
                <a:cs typeface="Courier New" panose="02070309020205020404" pitchFamily="49" charset="0"/>
              </a:rPr>
              <a:t>     3────────2</a:t>
            </a:r>
          </a:p>
          <a:p>
            <a:pPr lvl="0" defTabSz="914400"/>
            <a:r>
              <a:rPr kumimoji="0" lang="de-DE" altLang="de-DE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-apple-system-body"/>
              </a:rPr>
              <a:t>Jeder dieser Punkte hat </a:t>
            </a:r>
            <a:r>
              <a:rPr kumimoji="0" lang="de-DE" altLang="de-DE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inherit"/>
              </a:rPr>
              <a:t>(x, y, z)</a:t>
            </a:r>
            <a:r>
              <a:rPr kumimoji="0" lang="de-DE" altLang="de-DE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-apple-system-body"/>
              </a:rPr>
              <a:t>.</a:t>
            </a:r>
            <a:endParaRPr kumimoji="0" lang="de-DE" altLang="de-DE" sz="20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-apple-system-body"/>
              </a:rPr>
              <a:t>Zum Beispiel:</a:t>
            </a:r>
            <a:endParaRPr kumimoji="0" lang="de-DE" altLang="de-DE" sz="20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 Unicode MS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20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 Unicode MS"/>
                <a:cs typeface="Courier New" panose="02070309020205020404" pitchFamily="49" charset="0"/>
              </a:rPr>
              <a:t>vertices</a:t>
            </a:r>
            <a:r>
              <a:rPr kumimoji="0" lang="de-DE" altLang="de-DE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 Unicode MS"/>
                <a:cs typeface="Courier New" panose="02070309020205020404" pitchFamily="49" charset="0"/>
              </a:rPr>
              <a:t> = [ (-1, -1, -1), ( 1, -1, -1), ( 1, 1, -1), (-1, 1, -1), (-1, -1, 1), ( 1, -1, 1), ( 1, 1, 1), (-1, 1, 1) ] </a:t>
            </a:r>
            <a:endParaRPr kumimoji="0" lang="de-DE" altLang="de-DE" sz="20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-apple-system-body"/>
              </a:rPr>
              <a:t>Jetzt existiert der Würfel mathematisch bereits im </a:t>
            </a:r>
            <a:r>
              <a:rPr kumimoji="0" lang="de-DE" altLang="de-DE" sz="20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-apple-system-body"/>
              </a:rPr>
              <a:t>3D-Raum</a:t>
            </a:r>
            <a:r>
              <a:rPr kumimoji="0" lang="de-DE" altLang="de-DE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-apple-system-body"/>
              </a:rPr>
              <a:t>.</a:t>
            </a:r>
            <a:endParaRPr kumimoji="0" lang="de-DE" altLang="de-DE" sz="20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-apple-system-body"/>
              </a:rPr>
              <a:t>Aber dein Monitor ist natürlich flach.</a:t>
            </a:r>
            <a:endParaRPr kumimoji="0" lang="de-DE" altLang="de-DE" sz="20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-apple-system-body"/>
              </a:rPr>
              <a:t>Also muss OpenGL aus</a:t>
            </a:r>
            <a:endParaRPr kumimoji="0" lang="de-DE" altLang="de-DE" sz="20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 Unicode MS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 Unicode MS"/>
                <a:cs typeface="Courier New" panose="02070309020205020404" pitchFamily="49" charset="0"/>
              </a:rPr>
              <a:t>3D → 2D </a:t>
            </a:r>
            <a:endParaRPr kumimoji="0" lang="de-DE" altLang="de-DE" sz="20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-apple-system-body"/>
              </a:rPr>
              <a:t>machen.</a:t>
            </a:r>
            <a:endParaRPr kumimoji="0" lang="de-DE" altLang="de-DE" sz="2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6567633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5">
            <a:extLst>
              <a:ext uri="{FF2B5EF4-FFF2-40B4-BE49-F238E27FC236}">
                <a16:creationId xmlns:a16="http://schemas.microsoft.com/office/drawing/2014/main" id="{59CB60B1-6D34-42D7-8F17-4E8190E0DA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550" y="296279"/>
            <a:ext cx="10756900" cy="553997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altLang="de-DE" sz="2400" b="1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-apple-system-body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24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-apple-system-body"/>
              </a:rPr>
              <a:t>3. Das macht die Kamera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-apple-system-body"/>
              </a:rPr>
              <a:t>Stell dir vor, du stehst vor einem Würfel:</a:t>
            </a:r>
            <a:endParaRPr kumimoji="0" lang="de-DE" altLang="de-DE" sz="2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 Unicode MS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 Unicode MS"/>
                <a:cs typeface="Courier New" panose="02070309020205020404" pitchFamily="49" charset="0"/>
              </a:rPr>
              <a:t>Würfel ┌─────┐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DE" altLang="de-DE" sz="2400" dirty="0">
                <a:solidFill>
                  <a:schemeClr val="bg1"/>
                </a:solidFill>
                <a:latin typeface="Arial Unicode MS"/>
                <a:cs typeface="Courier New" panose="02070309020205020404" pitchFamily="49" charset="0"/>
              </a:rPr>
              <a:t>            </a:t>
            </a:r>
            <a:r>
              <a:rPr kumimoji="0" lang="de-DE" altLang="de-DE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 Unicode MS"/>
                <a:cs typeface="Courier New" panose="02070309020205020404" pitchFamily="49" charset="0"/>
              </a:rPr>
              <a:t>│             │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DE" altLang="de-DE" sz="2400" dirty="0">
                <a:solidFill>
                  <a:schemeClr val="bg1"/>
                </a:solidFill>
                <a:latin typeface="Arial Unicode MS"/>
                <a:cs typeface="Courier New" panose="02070309020205020404" pitchFamily="49" charset="0"/>
              </a:rPr>
              <a:t>            </a:t>
            </a:r>
            <a:r>
              <a:rPr kumimoji="0" lang="de-DE" altLang="de-DE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 Unicode MS"/>
                <a:cs typeface="Courier New" panose="02070309020205020404" pitchFamily="49" charset="0"/>
              </a:rPr>
              <a:t>│            </a:t>
            </a:r>
            <a:r>
              <a:rPr lang="de-DE" altLang="de-DE" sz="2400" dirty="0">
                <a:solidFill>
                  <a:schemeClr val="bg1"/>
                </a:solidFill>
                <a:latin typeface="Arial Unicode MS"/>
                <a:cs typeface="Courier New" panose="02070309020205020404" pitchFamily="49" charset="0"/>
              </a:rPr>
              <a:t> </a:t>
            </a:r>
            <a:r>
              <a:rPr kumimoji="0" lang="de-DE" altLang="de-DE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 Unicode MS"/>
                <a:cs typeface="Courier New" panose="02070309020205020404" pitchFamily="49" charset="0"/>
              </a:rPr>
              <a:t>│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DE" altLang="de-DE" sz="2400" dirty="0">
                <a:solidFill>
                  <a:schemeClr val="bg1"/>
                </a:solidFill>
                <a:latin typeface="Arial Unicode MS"/>
                <a:cs typeface="Courier New" panose="02070309020205020404" pitchFamily="49" charset="0"/>
              </a:rPr>
              <a:t>            </a:t>
            </a:r>
            <a:r>
              <a:rPr kumimoji="0" lang="de-DE" altLang="de-DE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 Unicode MS"/>
                <a:cs typeface="Courier New" panose="02070309020205020404" pitchFamily="49" charset="0"/>
              </a:rPr>
              <a:t>└─────┘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DE" altLang="de-DE" sz="2400" dirty="0">
                <a:solidFill>
                  <a:schemeClr val="bg1"/>
                </a:solidFill>
                <a:latin typeface="Arial Unicode MS"/>
                <a:cs typeface="Courier New" panose="02070309020205020404" pitchFamily="49" charset="0"/>
              </a:rPr>
              <a:t>               </a:t>
            </a:r>
            <a:r>
              <a:rPr kumimoji="0" lang="de-DE" altLang="de-DE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 Unicode MS"/>
                <a:cs typeface="Courier New" panose="02070309020205020404" pitchFamily="49" charset="0"/>
              </a:rPr>
              <a:t>↑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DE" altLang="de-DE" sz="2400" dirty="0">
                <a:solidFill>
                  <a:schemeClr val="bg1"/>
                </a:solidFill>
                <a:latin typeface="Arial Unicode MS"/>
                <a:cs typeface="Courier New" panose="02070309020205020404" pitchFamily="49" charset="0"/>
              </a:rPr>
              <a:t>               </a:t>
            </a:r>
            <a:r>
              <a:rPr kumimoji="0" lang="de-DE" altLang="de-DE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 Unicode MS"/>
                <a:cs typeface="Courier New" panose="02070309020205020404" pitchFamily="49" charset="0"/>
              </a:rPr>
              <a:t>| Kamera </a:t>
            </a:r>
            <a:endParaRPr kumimoji="0" lang="de-DE" altLang="de-DE" sz="2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-apple-system-body"/>
              </a:rPr>
              <a:t>Die Kamera schaut in den Raum.</a:t>
            </a:r>
            <a:endParaRPr kumimoji="0" lang="de-DE" altLang="de-DE" sz="2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-apple-system-body"/>
              </a:rPr>
              <a:t>Ein Objekt, das weiter entfernt ist, erscheint kleiner.</a:t>
            </a:r>
            <a:endParaRPr kumimoji="0" lang="de-DE" altLang="de-DE" sz="2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-apple-system-body"/>
              </a:rPr>
              <a:t>Das ist die sogenannte </a:t>
            </a:r>
            <a:r>
              <a:rPr kumimoji="0" lang="de-DE" altLang="de-DE" sz="24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-apple-system-body"/>
              </a:rPr>
              <a:t>Perspektive</a:t>
            </a:r>
            <a:r>
              <a:rPr kumimoji="0" lang="de-DE" altLang="de-DE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-apple-system-body"/>
              </a:rPr>
              <a:t>.</a:t>
            </a:r>
            <a:endParaRPr kumimoji="0" lang="de-DE" altLang="de-DE" sz="2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-apple-system-body"/>
              </a:rPr>
              <a:t>Zum Beispiel:</a:t>
            </a:r>
            <a:endParaRPr kumimoji="0" lang="de-DE" altLang="de-DE" sz="2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 Unicode MS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 Unicode MS"/>
                <a:cs typeface="Courier New" panose="02070309020205020404" pitchFamily="49" charset="0"/>
              </a:rPr>
              <a:t>nah: ████████ weit: ██ </a:t>
            </a:r>
            <a:endParaRPr kumimoji="0" lang="de-DE" altLang="de-DE" sz="2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-apple-system-body"/>
              </a:rPr>
              <a:t>Genau dadurch entsteht ein großer Teil des 3D-Eindrucks.</a:t>
            </a:r>
            <a:endParaRPr kumimoji="0" lang="de-DE" altLang="de-DE" sz="2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6260799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A571F30-257A-4AEE-8E0B-AF94598A8A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009775"/>
            <a:ext cx="12192000" cy="15875"/>
          </a:xfrm>
          <a:prstGeom prst="rect">
            <a:avLst/>
          </a:prstGeom>
          <a:solidFill>
            <a:srgbClr val="000000"/>
          </a:solidFill>
          <a:ln w="9525">
            <a:solidFill>
              <a:schemeClr val="tx1"/>
            </a:solidFill>
            <a:prstDash val="solid"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de-DE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9D4D923-A3F3-4729-82B3-EF2D03723B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482850"/>
            <a:ext cx="12192000" cy="15875"/>
          </a:xfrm>
          <a:prstGeom prst="rect">
            <a:avLst/>
          </a:prstGeom>
          <a:solidFill>
            <a:srgbClr val="000000"/>
          </a:solidFill>
          <a:ln w="9525">
            <a:solidFill>
              <a:schemeClr val="tx1"/>
            </a:solidFill>
            <a:prstDash val="solid"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de-DE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17DFF23-D85C-4A2F-8EDC-67FC72AFE3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955925"/>
            <a:ext cx="12192000" cy="15875"/>
          </a:xfrm>
          <a:prstGeom prst="rect">
            <a:avLst/>
          </a:prstGeom>
          <a:solidFill>
            <a:srgbClr val="000000"/>
          </a:solidFill>
          <a:ln w="9525">
            <a:solidFill>
              <a:schemeClr val="tx1"/>
            </a:solidFill>
            <a:prstDash val="solid"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de-DE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777A5D2-193F-43F1-8F9D-79D49D125E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6600" y="659011"/>
            <a:ext cx="8597900" cy="553997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24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-apple-system-body"/>
              </a:rPr>
              <a:t>4. Die Projektion</a:t>
            </a:r>
          </a:p>
          <a:p>
            <a:pPr lvl="0" defTabSz="914400"/>
            <a:r>
              <a:rPr kumimoji="0" lang="de-DE" altLang="de-DE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-apple-system-body"/>
              </a:rPr>
              <a:t>Mathematisch wird </a:t>
            </a:r>
            <a:r>
              <a:rPr lang="de-DE" altLang="de-DE" sz="2400" dirty="0">
                <a:solidFill>
                  <a:schemeClr val="bg1"/>
                </a:solidFill>
                <a:latin typeface="Arial Unicode MS"/>
                <a:cs typeface="Courier New" panose="02070309020205020404" pitchFamily="49" charset="0"/>
              </a:rPr>
              <a:t> </a:t>
            </a:r>
            <a:r>
              <a:rPr kumimoji="0" lang="de-DE" altLang="de-DE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-apple-system-body"/>
              </a:rPr>
              <a:t>ungefähr Folgendes gemacht:</a:t>
            </a:r>
            <a:endParaRPr kumimoji="0" lang="de-DE" altLang="de-DE" sz="2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 Unicode MS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 Unicode MS"/>
                <a:cs typeface="Courier New" panose="02070309020205020404" pitchFamily="49" charset="0"/>
              </a:rPr>
              <a:t>3D-Punkt (x, y, z)&gt; Kamera</a:t>
            </a:r>
            <a:r>
              <a:rPr lang="de-DE" altLang="de-DE" sz="2400" dirty="0">
                <a:solidFill>
                  <a:schemeClr val="bg1"/>
                </a:solidFill>
                <a:latin typeface="Arial Unicode MS"/>
                <a:cs typeface="Courier New" panose="02070309020205020404" pitchFamily="49" charset="0"/>
              </a:rPr>
              <a:t>&gt;</a:t>
            </a:r>
            <a:r>
              <a:rPr kumimoji="0" lang="de-DE" altLang="de-DE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 Unicode MS"/>
                <a:cs typeface="Courier New" panose="02070309020205020404" pitchFamily="49" charset="0"/>
              </a:rPr>
              <a:t> Perspektivprojektion&gt; 2D-Punkt (x, y)&gt; Pixel auf dem Bildschirm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altLang="de-DE" sz="2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-apple-system-body"/>
              </a:rPr>
              <a:t>Eine vereinfachte Perspektivformel sieht beispielsweise so aus:</a:t>
            </a:r>
            <a:endParaRPr kumimoji="0" lang="de-DE" altLang="de-DE" sz="2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 Unicode MS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2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 Unicode MS"/>
                <a:cs typeface="Courier New" panose="02070309020205020404" pitchFamily="49" charset="0"/>
              </a:rPr>
              <a:t>screen_x</a:t>
            </a:r>
            <a:r>
              <a:rPr kumimoji="0" lang="de-DE" altLang="de-DE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 Unicode MS"/>
                <a:cs typeface="Courier New" panose="02070309020205020404" pitchFamily="49" charset="0"/>
              </a:rPr>
              <a:t> = x / z </a:t>
            </a:r>
            <a:r>
              <a:rPr kumimoji="0" lang="de-DE" altLang="de-DE" sz="2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 Unicode MS"/>
                <a:cs typeface="Courier New" panose="02070309020205020404" pitchFamily="49" charset="0"/>
              </a:rPr>
              <a:t>screen_y</a:t>
            </a:r>
            <a:r>
              <a:rPr kumimoji="0" lang="de-DE" altLang="de-DE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 Unicode MS"/>
                <a:cs typeface="Courier New" panose="02070309020205020404" pitchFamily="49" charset="0"/>
              </a:rPr>
              <a:t> = y / z </a:t>
            </a:r>
            <a:endParaRPr kumimoji="0" lang="de-DE" altLang="de-DE" sz="2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-apple-system-body"/>
              </a:rPr>
              <a:t>Das ist jetzt stark vereinfacht, aber das Prinzip ist wichtig.</a:t>
            </a:r>
            <a:endParaRPr kumimoji="0" lang="de-DE" altLang="de-DE" sz="2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-apple-system-body"/>
              </a:rPr>
              <a:t>Angenommen:</a:t>
            </a:r>
            <a:endParaRPr kumimoji="0" lang="de-DE" altLang="de-DE" sz="2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 Unicode MS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 Unicode MS"/>
                <a:cs typeface="Courier New" panose="02070309020205020404" pitchFamily="49" charset="0"/>
              </a:rPr>
              <a:t>Punkt A: x = 2 z = 2 2 / 2 = 1 </a:t>
            </a:r>
            <a:endParaRPr kumimoji="0" lang="de-DE" altLang="de-DE" sz="2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-apple-system-body"/>
              </a:rPr>
              <a:t>und:</a:t>
            </a:r>
            <a:endParaRPr kumimoji="0" lang="de-DE" altLang="de-DE" sz="2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 Unicode MS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 Unicode MS"/>
                <a:cs typeface="Courier New" panose="02070309020205020404" pitchFamily="49" charset="0"/>
              </a:rPr>
              <a:t>Punkt B: x = 2 z = 10 2 / 10 = 0.2 </a:t>
            </a:r>
            <a:endParaRPr kumimoji="0" lang="de-DE" altLang="de-DE" sz="2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-apple-system-body"/>
              </a:rPr>
              <a:t>Obwohl beide Punkte </a:t>
            </a:r>
            <a:r>
              <a:rPr kumimoji="0" lang="de-DE" altLang="de-DE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inherit"/>
              </a:rPr>
              <a:t>x = 2</a:t>
            </a:r>
            <a:r>
              <a:rPr kumimoji="0" lang="de-DE" altLang="de-DE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-apple-system-body"/>
              </a:rPr>
              <a:t> haben, erscheint B viel näher an der Mitte und damit </a:t>
            </a:r>
            <a:r>
              <a:rPr kumimoji="0" lang="de-DE" altLang="de-DE" sz="24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-apple-system-body"/>
              </a:rPr>
              <a:t>kleiner</a:t>
            </a:r>
            <a:r>
              <a:rPr kumimoji="0" lang="de-DE" altLang="de-DE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-apple-system-body"/>
              </a:rPr>
              <a:t>, weil er weiter weg ist.</a:t>
            </a:r>
            <a:endParaRPr kumimoji="0" lang="de-DE" altLang="de-DE" sz="2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-apple-system-body"/>
              </a:rPr>
              <a:t>Das ist Perspektive.</a:t>
            </a:r>
            <a:endParaRPr kumimoji="0" lang="de-DE" altLang="de-DE" sz="2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1449525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9814" y="595015"/>
            <a:ext cx="4405897" cy="4744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00" dirty="0">
                <a:solidFill>
                  <a:srgbClr val="F5F0F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Projektstrucktur</a:t>
            </a:r>
            <a:endParaRPr lang="en-US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719814" y="1201141"/>
            <a:ext cx="11361652" cy="2112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16000"/>
              </a:lnSpc>
              <a:buSzPct val="100000"/>
            </a:pPr>
            <a:r>
              <a:rPr lang="en-US" sz="2400" dirty="0">
                <a:solidFill>
                  <a:srgbClr val="E2E6E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Womit arbeiten wir?</a:t>
            </a:r>
            <a:endParaRPr lang="en-US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719814" y="2087507"/>
            <a:ext cx="10752067" cy="12521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233680" indent="-233680" algn="l">
              <a:lnSpc>
                <a:spcPct val="116000"/>
              </a:lnSpc>
              <a:buSzPct val="100000"/>
              <a:buFont typeface="+mj-lt"/>
              <a:buAutoNum type="arabicPeriod"/>
            </a:pPr>
            <a:r>
              <a:rPr lang="en-US" sz="2400" dirty="0">
                <a:solidFill>
                  <a:srgbClr val="E2E6E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Pygame</a:t>
            </a:r>
            <a:endParaRPr lang="en-US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233680" indent="-233680" algn="l">
              <a:lnSpc>
                <a:spcPct val="116000"/>
              </a:lnSpc>
              <a:buSzPct val="100000"/>
              <a:buFont typeface="+mj-lt"/>
              <a:buAutoNum type="arabicPeriod" startAt="2"/>
            </a:pPr>
            <a:r>
              <a:rPr lang="en-US" sz="2400" dirty="0">
                <a:solidFill>
                  <a:srgbClr val="E2E6E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Numpy</a:t>
            </a:r>
            <a:endParaRPr lang="en-US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233680" indent="-233680" algn="l">
              <a:lnSpc>
                <a:spcPct val="116000"/>
              </a:lnSpc>
              <a:buSzPct val="100000"/>
              <a:buFont typeface="+mj-lt"/>
              <a:buAutoNum type="arabicPeriod" startAt="3"/>
            </a:pPr>
            <a:r>
              <a:rPr lang="en-US" sz="2400" dirty="0">
                <a:solidFill>
                  <a:srgbClr val="E2E6E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Git Repository</a:t>
            </a:r>
            <a:endParaRPr lang="en-US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233680" indent="-233680" algn="l">
              <a:lnSpc>
                <a:spcPct val="116000"/>
              </a:lnSpc>
              <a:buSzPct val="100000"/>
              <a:buFont typeface="+mj-lt"/>
              <a:buAutoNum type="arabicPeriod" startAt="4"/>
            </a:pPr>
            <a:r>
              <a:rPr lang="en-US" sz="2400" dirty="0">
                <a:solidFill>
                  <a:srgbClr val="E2E6E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IDE / Editor</a:t>
            </a:r>
            <a:endParaRPr lang="en-US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233680" indent="-233680" algn="l">
              <a:lnSpc>
                <a:spcPct val="116000"/>
              </a:lnSpc>
              <a:buSzPct val="100000"/>
              <a:buFont typeface="+mj-lt"/>
              <a:buAutoNum type="arabicPeriod" startAt="5"/>
            </a:pPr>
            <a:r>
              <a:rPr lang="en-US" sz="2400" dirty="0">
                <a:solidFill>
                  <a:srgbClr val="E2E6E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Virtuelle Umgebung</a:t>
            </a:r>
            <a:endParaRPr lang="en-US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233680" indent="-233680" algn="l">
              <a:lnSpc>
                <a:spcPct val="116000"/>
              </a:lnSpc>
              <a:buSzPct val="100000"/>
              <a:buFont typeface="+mj-lt"/>
              <a:buAutoNum type="arabicPeriod" startAt="6"/>
            </a:pPr>
            <a:r>
              <a:rPr lang="en-US" sz="2400" dirty="0">
                <a:solidFill>
                  <a:srgbClr val="E2E6E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GitHub </a:t>
            </a:r>
            <a:endParaRPr lang="en-US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D5543E5C-4254-4DEC-A02B-6FB1C433D2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9475" y="1171575"/>
            <a:ext cx="4514850" cy="4514850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9814" y="271661"/>
            <a:ext cx="3690845" cy="3851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00" dirty="0">
                <a:solidFill>
                  <a:srgbClr val="F5F0F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Implementierung</a:t>
            </a:r>
            <a:endParaRPr lang="en-US" sz="36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719814" y="936128"/>
            <a:ext cx="10752067" cy="524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3040" indent="-193040" algn="l">
              <a:lnSpc>
                <a:spcPct val="107000"/>
              </a:lnSpc>
              <a:buSzPct val="100000"/>
              <a:buChar char="•"/>
            </a:pPr>
            <a:r>
              <a:rPr lang="en-US" sz="1100" dirty="0">
                <a:solidFill>
                  <a:srgbClr val="E2E6E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Zugeweisene Funktionen Coden</a:t>
            </a:r>
            <a:endParaRPr lang="en-US" sz="11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193040" indent="-193040" algn="l">
              <a:lnSpc>
                <a:spcPct val="107000"/>
              </a:lnSpc>
              <a:buSzPct val="100000"/>
              <a:buChar char="•"/>
            </a:pPr>
            <a:r>
              <a:rPr lang="en-US" sz="1100" dirty="0">
                <a:solidFill>
                  <a:srgbClr val="E2E6E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Verbinden der Funktionen</a:t>
            </a:r>
            <a:endParaRPr lang="en-US" sz="11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193040" indent="-193040" algn="l">
              <a:lnSpc>
                <a:spcPct val="107000"/>
              </a:lnSpc>
              <a:buSzPct val="100000"/>
              <a:buChar char="•"/>
            </a:pPr>
            <a:r>
              <a:rPr lang="en-US" sz="1100" dirty="0">
                <a:solidFill>
                  <a:srgbClr val="E2E6E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Bug fixing</a:t>
            </a:r>
            <a:endParaRPr lang="en-US" sz="11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719814" y="1659632"/>
            <a:ext cx="3946327" cy="2309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dirty="0">
                <a:solidFill>
                  <a:srgbClr val="F5F0F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Detaillierte Schritte für die Codierung</a:t>
            </a:r>
            <a:endParaRPr lang="en-US" sz="2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719814" y="2089845"/>
            <a:ext cx="10752067" cy="707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3040" indent="-193040" algn="l">
              <a:lnSpc>
                <a:spcPct val="107000"/>
              </a:lnSpc>
              <a:buSzPct val="100000"/>
              <a:buChar char="•"/>
            </a:pPr>
            <a:r>
              <a:rPr lang="en-US" sz="1100" dirty="0">
                <a:solidFill>
                  <a:srgbClr val="E2E6E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Klassenstruktur definieren</a:t>
            </a:r>
            <a:endParaRPr lang="en-US" sz="11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193040" indent="-193040" algn="l">
              <a:lnSpc>
                <a:spcPct val="107000"/>
              </a:lnSpc>
              <a:buSzPct val="100000"/>
              <a:buChar char="•"/>
            </a:pPr>
            <a:r>
              <a:rPr lang="en-US" sz="1100" dirty="0">
                <a:solidFill>
                  <a:srgbClr val="E2E6E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Kollisionserkennung implementieren</a:t>
            </a:r>
            <a:endParaRPr lang="en-US" sz="11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193040" indent="-193040" algn="l">
              <a:lnSpc>
                <a:spcPct val="107000"/>
              </a:lnSpc>
              <a:buSzPct val="100000"/>
              <a:buChar char="•"/>
            </a:pPr>
            <a:r>
              <a:rPr lang="en-US" sz="1100" dirty="0">
                <a:solidFill>
                  <a:srgbClr val="E2E6E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Rendering-System aufbauen</a:t>
            </a:r>
            <a:endParaRPr lang="en-US" sz="11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193040" indent="-193040" algn="l">
              <a:lnSpc>
                <a:spcPct val="107000"/>
              </a:lnSpc>
              <a:buSzPct val="100000"/>
              <a:buChar char="•"/>
            </a:pPr>
            <a:r>
              <a:rPr lang="en-US" sz="1100" dirty="0">
                <a:solidFill>
                  <a:srgbClr val="E2E6E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Spielobjekte und Zustände sauber organisieren</a:t>
            </a:r>
            <a:endParaRPr lang="en-US" sz="11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719814" y="2908201"/>
            <a:ext cx="2949204" cy="2309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dirty="0">
                <a:solidFill>
                  <a:srgbClr val="F5F0F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Verbinden der Funktionen</a:t>
            </a:r>
            <a:endParaRPr lang="en-US" sz="2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719814" y="3279601"/>
            <a:ext cx="10752067" cy="707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3040" indent="-193040" algn="l">
              <a:lnSpc>
                <a:spcPct val="107000"/>
              </a:lnSpc>
              <a:buSzPct val="100000"/>
              <a:buChar char="•"/>
            </a:pPr>
            <a:r>
              <a:rPr lang="en-US" sz="1100" dirty="0">
                <a:solidFill>
                  <a:srgbClr val="E2E6E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Spielerbewegung mit Eingaben verknüpfen</a:t>
            </a:r>
            <a:endParaRPr lang="en-US" sz="11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193040" indent="-193040" algn="l">
              <a:lnSpc>
                <a:spcPct val="107000"/>
              </a:lnSpc>
              <a:buSzPct val="100000"/>
              <a:buChar char="•"/>
            </a:pPr>
            <a:r>
              <a:rPr lang="en-US" sz="1100" dirty="0">
                <a:solidFill>
                  <a:srgbClr val="E2E6E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Angriffe mit Gegner-Logik verbinden</a:t>
            </a:r>
            <a:endParaRPr lang="en-US" sz="11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193040" indent="-193040" algn="l">
              <a:lnSpc>
                <a:spcPct val="107000"/>
              </a:lnSpc>
              <a:buSzPct val="100000"/>
              <a:buChar char="•"/>
            </a:pPr>
            <a:r>
              <a:rPr lang="en-US" sz="1100" dirty="0">
                <a:solidFill>
                  <a:srgbClr val="E2E6E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Hud mit Spielstatus synchronisieren</a:t>
            </a:r>
            <a:endParaRPr lang="en-US" sz="11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193040" indent="-193040" algn="l">
              <a:lnSpc>
                <a:spcPct val="107000"/>
              </a:lnSpc>
              <a:buSzPct val="100000"/>
              <a:buChar char="•"/>
            </a:pPr>
            <a:r>
              <a:rPr lang="en-US" sz="1100" dirty="0">
                <a:solidFill>
                  <a:srgbClr val="E2E6E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Karten- und Map-Wechsel integrieren</a:t>
            </a:r>
            <a:endParaRPr lang="en-US" sz="11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719814" y="4068266"/>
            <a:ext cx="2458281" cy="2309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dirty="0">
                <a:solidFill>
                  <a:srgbClr val="F5F0F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Bug fixing</a:t>
            </a:r>
            <a:endParaRPr lang="en-US" sz="2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719814" y="4540299"/>
            <a:ext cx="10752067" cy="707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3040" indent="-193040" algn="l">
              <a:lnSpc>
                <a:spcPct val="107000"/>
              </a:lnSpc>
              <a:buSzPct val="100000"/>
              <a:buChar char="•"/>
            </a:pPr>
            <a:r>
              <a:rPr lang="en-US" sz="1100" dirty="0">
                <a:solidFill>
                  <a:srgbClr val="E2E6E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Einzelne Funktionen isoliert testen</a:t>
            </a:r>
            <a:endParaRPr lang="en-US" sz="11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193040" indent="-193040" algn="l">
              <a:lnSpc>
                <a:spcPct val="107000"/>
              </a:lnSpc>
              <a:buSzPct val="100000"/>
              <a:buChar char="•"/>
            </a:pPr>
            <a:r>
              <a:rPr lang="en-US" sz="1100" dirty="0">
                <a:solidFill>
                  <a:srgbClr val="E2E6E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Integrationstests für Spielabläufe durchführen</a:t>
            </a:r>
            <a:endParaRPr lang="en-US" sz="11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193040" indent="-193040" algn="l">
              <a:lnSpc>
                <a:spcPct val="107000"/>
              </a:lnSpc>
              <a:buSzPct val="100000"/>
              <a:buChar char="•"/>
            </a:pPr>
            <a:r>
              <a:rPr lang="en-US" sz="1100" dirty="0">
                <a:solidFill>
                  <a:srgbClr val="E2E6E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Fehler mit Logging und Debug-Ausgaben analysieren</a:t>
            </a:r>
            <a:endParaRPr lang="en-US" sz="11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193040" indent="-193040" algn="l">
              <a:lnSpc>
                <a:spcPct val="107000"/>
              </a:lnSpc>
              <a:buSzPct val="100000"/>
              <a:buChar char="•"/>
            </a:pPr>
            <a:r>
              <a:rPr lang="en-US" sz="1100" dirty="0">
                <a:solidFill>
                  <a:srgbClr val="E2E6E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Randfälle und Performance-Probleme prüfen</a:t>
            </a:r>
            <a:endParaRPr lang="en-US" sz="11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719814" y="5378251"/>
            <a:ext cx="3327515" cy="2309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dirty="0">
                <a:solidFill>
                  <a:srgbClr val="F5F0F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Code Review und Optimierung</a:t>
            </a:r>
            <a:endParaRPr lang="en-US" sz="2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719814" y="5869880"/>
            <a:ext cx="10752067" cy="707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3040" indent="-193040" algn="l">
              <a:lnSpc>
                <a:spcPct val="107000"/>
              </a:lnSpc>
              <a:buSzPct val="100000"/>
              <a:buChar char="•"/>
            </a:pPr>
            <a:r>
              <a:rPr lang="en-US" sz="1100" dirty="0">
                <a:solidFill>
                  <a:srgbClr val="E2E6E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Code auf Lesbarkeit und Struktur prüfen</a:t>
            </a:r>
            <a:endParaRPr lang="en-US" sz="11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193040" indent="-193040" algn="l">
              <a:lnSpc>
                <a:spcPct val="107000"/>
              </a:lnSpc>
              <a:buSzPct val="100000"/>
              <a:buChar char="•"/>
            </a:pPr>
            <a:r>
              <a:rPr lang="en-US" sz="1100" dirty="0">
                <a:solidFill>
                  <a:srgbClr val="E2E6E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Duplikate entfernen und Funktionen vereinfachen</a:t>
            </a:r>
            <a:endParaRPr lang="en-US" sz="11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193040" indent="-193040" algn="l">
              <a:lnSpc>
                <a:spcPct val="107000"/>
              </a:lnSpc>
              <a:buSzPct val="100000"/>
              <a:buChar char="•"/>
            </a:pPr>
            <a:r>
              <a:rPr lang="en-US" sz="1100" dirty="0">
                <a:solidFill>
                  <a:srgbClr val="E2E6E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Performance und Speicherverbrauch optimieren</a:t>
            </a:r>
            <a:endParaRPr lang="en-US" sz="11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193040" indent="-193040" algn="l">
              <a:lnSpc>
                <a:spcPct val="107000"/>
              </a:lnSpc>
              <a:buSzPct val="100000"/>
              <a:buChar char="•"/>
            </a:pPr>
            <a:r>
              <a:rPr lang="en-US" sz="1100" dirty="0">
                <a:solidFill>
                  <a:srgbClr val="E2E6E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Feedback aus dem Review umsetzen</a:t>
            </a:r>
            <a:endParaRPr lang="en-US" sz="11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</p:cSld>
  <p:clrMapOvr>
    <a:masterClrMapping/>
  </p:clrMapOvr>
  <p:transition spd="slow">
    <p:push dir="u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9814" y="1133673"/>
            <a:ext cx="5751765" cy="6427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4000" dirty="0">
                <a:solidFill>
                  <a:srgbClr val="F5F0F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Dokumentierung</a:t>
            </a:r>
            <a:endParaRPr lang="en-US" sz="4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719814" y="2187773"/>
            <a:ext cx="10752067" cy="35365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25120" indent="-325120" algn="l">
              <a:lnSpc>
                <a:spcPct val="133000"/>
              </a:lnSpc>
              <a:buSzPct val="100000"/>
              <a:buChar char="•"/>
            </a:pPr>
            <a:r>
              <a:rPr lang="en-US" sz="1600" dirty="0">
                <a:solidFill>
                  <a:srgbClr val="E2E6E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Vor jedem bearbeiten Pullen</a:t>
            </a:r>
            <a:endParaRPr lang="en-US" sz="16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325120" indent="-325120" algn="l">
              <a:lnSpc>
                <a:spcPct val="133000"/>
              </a:lnSpc>
              <a:buSzPct val="100000"/>
              <a:buChar char="•"/>
            </a:pPr>
            <a:r>
              <a:rPr lang="en-US" sz="1600" dirty="0">
                <a:solidFill>
                  <a:srgbClr val="E2E6E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Nach jedem bearbeiten Pushen</a:t>
            </a:r>
            <a:endParaRPr lang="en-US" sz="16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325120" indent="-325120" algn="l">
              <a:lnSpc>
                <a:spcPct val="133000"/>
              </a:lnSpc>
              <a:buSzPct val="100000"/>
              <a:buChar char="•"/>
            </a:pPr>
            <a:r>
              <a:rPr lang="en-US" sz="1600" dirty="0">
                <a:solidFill>
                  <a:srgbClr val="E2E6E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Eigenes Dokument für Änderungen</a:t>
            </a:r>
            <a:endParaRPr lang="en-US" sz="16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325120" indent="-325120" algn="l">
              <a:lnSpc>
                <a:spcPct val="133000"/>
              </a:lnSpc>
              <a:buSzPct val="100000"/>
              <a:buChar char="•"/>
            </a:pPr>
            <a:r>
              <a:rPr lang="en-US" sz="1600" dirty="0">
                <a:solidFill>
                  <a:srgbClr val="E2E6E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Spezifische Commit-Message-Konventionen</a:t>
            </a:r>
            <a:endParaRPr lang="en-US" sz="16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325120" indent="-325120" algn="l">
              <a:lnSpc>
                <a:spcPct val="133000"/>
              </a:lnSpc>
              <a:buSzPct val="100000"/>
              <a:buChar char="•"/>
            </a:pPr>
            <a:r>
              <a:rPr lang="en-US" sz="1600" dirty="0">
                <a:solidFill>
                  <a:srgbClr val="E2E6E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Dokumentation von Code-Änderungen (Docstrings, Kommentare)</a:t>
            </a:r>
            <a:endParaRPr lang="en-US" sz="16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325120" indent="-325120" algn="l">
              <a:lnSpc>
                <a:spcPct val="133000"/>
              </a:lnSpc>
              <a:buSzPct val="100000"/>
              <a:buChar char="•"/>
            </a:pPr>
            <a:r>
              <a:rPr lang="en-US" sz="1600" dirty="0">
                <a:solidFill>
                  <a:srgbClr val="E2E6E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Erstellung von README und technischer Dokumentation</a:t>
            </a:r>
            <a:endParaRPr lang="en-US" sz="16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325120" indent="-325120" algn="l">
              <a:lnSpc>
                <a:spcPct val="133000"/>
              </a:lnSpc>
              <a:buSzPct val="100000"/>
              <a:buChar char="•"/>
            </a:pPr>
            <a:r>
              <a:rPr lang="en-US" sz="1600" dirty="0">
                <a:solidFill>
                  <a:srgbClr val="E2E6E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Versionskontrolle und Release-Notes</a:t>
            </a:r>
            <a:endParaRPr lang="en-US" sz="16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325120" indent="-325120" algn="l">
              <a:lnSpc>
                <a:spcPct val="133000"/>
              </a:lnSpc>
              <a:buSzPct val="100000"/>
              <a:buChar char="•"/>
            </a:pPr>
            <a:r>
              <a:rPr lang="en-US" sz="1600" dirty="0">
                <a:solidFill>
                  <a:srgbClr val="E2E6E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Fehlertracking und Changelog</a:t>
            </a:r>
            <a:endParaRPr lang="en-US" sz="16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325120" indent="-325120" algn="l">
              <a:lnSpc>
                <a:spcPct val="133000"/>
              </a:lnSpc>
              <a:buSzPct val="100000"/>
              <a:buChar char="•"/>
            </a:pPr>
            <a:r>
              <a:rPr lang="en-US" sz="1600" dirty="0">
                <a:solidFill>
                  <a:srgbClr val="E2E6E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Team-Kommunikation und Meetings</a:t>
            </a:r>
            <a:endParaRPr lang="en-US" sz="16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</p:cSld>
  <p:clrMapOvr>
    <a:masterClrMapping/>
  </p:clrMapOvr>
  <p:transition spd="slow">
    <p:push dir="u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9814" y="603052"/>
            <a:ext cx="5510670" cy="6126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850" dirty="0">
                <a:solidFill>
                  <a:srgbClr val="F5F0F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Ende</a:t>
            </a:r>
            <a:endParaRPr lang="en-US" sz="385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719814" y="1589385"/>
            <a:ext cx="2547874" cy="3311327"/>
          </a:xfrm>
          <a:prstGeom prst="roundRect">
            <a:avLst>
              <a:gd name="adj" fmla="val 3232"/>
            </a:avLst>
          </a:prstGeom>
          <a:solidFill>
            <a:srgbClr val="09151A">
              <a:alpha val="95000"/>
            </a:srgbClr>
          </a:solidFill>
          <a:ln w="25399">
            <a:solidFill>
              <a:srgbClr val="194A99"/>
            </a:solidFill>
            <a:prstDash val="solid"/>
          </a:ln>
        </p:spPr>
        <p:txBody>
          <a:bodyPr/>
          <a:lstStyle/>
          <a:p>
            <a:endParaRPr lang="de-DE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847754" y="1810741"/>
            <a:ext cx="2291994" cy="9188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900" dirty="0">
                <a:solidFill>
                  <a:srgbClr val="E2E6E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Zusammenfassung der Projektziele</a:t>
            </a:r>
            <a:endParaRPr lang="en-US" sz="19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941166" y="2841625"/>
            <a:ext cx="2105171" cy="1531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500" dirty="0">
                <a:solidFill>
                  <a:srgbClr val="E2E6E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Kurzer Rückblick auf das, was das Projekt erreichen sollte und welche Ergebnisse erzielt wurden.</a:t>
            </a:r>
            <a:endParaRPr lang="en-US" sz="15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454512" y="1589385"/>
            <a:ext cx="2547874" cy="3311327"/>
          </a:xfrm>
          <a:prstGeom prst="roundRect">
            <a:avLst>
              <a:gd name="adj" fmla="val 3232"/>
            </a:avLst>
          </a:prstGeom>
          <a:solidFill>
            <a:srgbClr val="09151A">
              <a:alpha val="95000"/>
            </a:srgbClr>
          </a:solidFill>
          <a:ln w="25399">
            <a:solidFill>
              <a:srgbClr val="194A99"/>
            </a:solidFill>
            <a:prstDash val="solid"/>
          </a:ln>
        </p:spPr>
        <p:txBody>
          <a:bodyPr/>
          <a:lstStyle/>
          <a:p>
            <a:endParaRPr lang="de-DE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3675864" y="1810742"/>
            <a:ext cx="2105171" cy="9188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900" dirty="0">
                <a:solidFill>
                  <a:srgbClr val="E2E6E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Nächste Schritte und mögliche Erweiterungen</a:t>
            </a:r>
            <a:endParaRPr lang="en-US" sz="19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3675864" y="2841625"/>
            <a:ext cx="2105171" cy="18377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500" dirty="0">
                <a:solidFill>
                  <a:srgbClr val="E2E6E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Ideen für die Weiterentwicklung, zusätzliche Funktionen und sinnvolle Ausbaustufen.</a:t>
            </a:r>
            <a:endParaRPr lang="en-US" sz="15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6189210" y="1589385"/>
            <a:ext cx="2547874" cy="3311327"/>
          </a:xfrm>
          <a:prstGeom prst="roundRect">
            <a:avLst>
              <a:gd name="adj" fmla="val 3232"/>
            </a:avLst>
          </a:prstGeom>
          <a:solidFill>
            <a:srgbClr val="09151A">
              <a:alpha val="95000"/>
            </a:srgbClr>
          </a:solidFill>
          <a:ln w="25399">
            <a:solidFill>
              <a:srgbClr val="194A99"/>
            </a:solidFill>
            <a:prstDash val="solid"/>
          </a:ln>
        </p:spPr>
        <p:txBody>
          <a:bodyPr/>
          <a:lstStyle/>
          <a:p>
            <a:endParaRPr lang="de-DE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6410562" y="1810742"/>
            <a:ext cx="2105171" cy="3062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900" dirty="0">
                <a:solidFill>
                  <a:srgbClr val="E2E6E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Lessons Learned</a:t>
            </a:r>
            <a:endParaRPr lang="en-US" sz="19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410562" y="2229048"/>
            <a:ext cx="2105171" cy="18377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500" dirty="0">
                <a:solidFill>
                  <a:srgbClr val="E2E6E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Die wichtigsten Erkenntnisse aus Umsetzung, Zusammenarbeit und technischer Entwicklung.</a:t>
            </a:r>
            <a:endParaRPr lang="en-US" sz="15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923908" y="1589385"/>
            <a:ext cx="2547973" cy="3311327"/>
          </a:xfrm>
          <a:prstGeom prst="roundRect">
            <a:avLst>
              <a:gd name="adj" fmla="val 3232"/>
            </a:avLst>
          </a:prstGeom>
          <a:solidFill>
            <a:srgbClr val="09151A">
              <a:alpha val="95000"/>
            </a:srgbClr>
          </a:solidFill>
          <a:ln w="25399">
            <a:solidFill>
              <a:srgbClr val="194A99"/>
            </a:solidFill>
            <a:prstDash val="solid"/>
          </a:ln>
        </p:spPr>
        <p:txBody>
          <a:bodyPr/>
          <a:lstStyle/>
          <a:p>
            <a:endParaRPr lang="de-DE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9145259" y="1810742"/>
            <a:ext cx="2105270" cy="6125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900" dirty="0">
                <a:solidFill>
                  <a:srgbClr val="E2E6E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Danksagungen und Credits</a:t>
            </a:r>
            <a:endParaRPr lang="en-US" sz="19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9145259" y="2535337"/>
            <a:ext cx="2105270" cy="18377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500" dirty="0">
                <a:solidFill>
                  <a:srgbClr val="E2E6E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Dank an alle Mitwirkenden, Unterstützerinnen und Unterstützer sowie verwendete Ressourcen.</a:t>
            </a:r>
            <a:endParaRPr lang="en-US" sz="15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719814" y="5087541"/>
            <a:ext cx="10752067" cy="1167309"/>
          </a:xfrm>
          <a:prstGeom prst="roundRect">
            <a:avLst>
              <a:gd name="adj" fmla="val 7054"/>
            </a:avLst>
          </a:prstGeom>
          <a:solidFill>
            <a:srgbClr val="09151A">
              <a:alpha val="95000"/>
            </a:srgbClr>
          </a:solidFill>
          <a:ln w="25399">
            <a:solidFill>
              <a:srgbClr val="194A99"/>
            </a:solidFill>
            <a:prstDash val="solid"/>
          </a:ln>
        </p:spPr>
        <p:txBody>
          <a:bodyPr/>
          <a:lstStyle/>
          <a:p>
            <a:endParaRPr lang="de-DE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941166" y="5308898"/>
            <a:ext cx="2531801" cy="3062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900" dirty="0">
                <a:solidFill>
                  <a:srgbClr val="E2E6E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Kontakt &amp; Repository</a:t>
            </a:r>
            <a:endParaRPr lang="en-US" sz="19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941166" y="5727204"/>
            <a:ext cx="10309364" cy="3062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500" dirty="0">
                <a:solidFill>
                  <a:srgbClr val="E2E6E9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Kontaktinformationen, Projektseite oder Link zum Repository für weitere Informationen und Feedback.</a:t>
            </a:r>
            <a:endParaRPr lang="en-US" sz="15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TM10001115[[fn=Parcel]]</Template>
  <TotalTime>0</TotalTime>
  <Words>1016</Words>
  <Application>Microsoft Office PowerPoint</Application>
  <PresentationFormat>Widescreen</PresentationFormat>
  <Paragraphs>207</Paragraphs>
  <Slides>18</Slides>
  <Notes>6</Notes>
  <HiddenSlides>0</HiddenSlides>
  <MMClips>2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Arial</vt:lpstr>
      <vt:lpstr>Arial Unicode MS</vt:lpstr>
      <vt:lpstr>Tahoma</vt:lpstr>
      <vt:lpstr>inherit</vt:lpstr>
      <vt:lpstr>-apple-system-body</vt:lpstr>
      <vt:lpstr>Gill Sans MT</vt:lpstr>
      <vt:lpstr>Parcel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subject/>
  <dc:creator/>
  <cp:lastModifiedBy>Mika Sprenger</cp:lastModifiedBy>
  <cp:revision>24</cp:revision>
  <dcterms:created xsi:type="dcterms:W3CDTF">2026-07-01T06:48:15Z</dcterms:created>
  <dcterms:modified xsi:type="dcterms:W3CDTF">2026-09-17T19:19:31Z</dcterms:modified>
</cp:coreProperties>
</file>